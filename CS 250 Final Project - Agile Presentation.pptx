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four roles on a Scrum team, how the phases of the software development lifecycle work in an Agile approach, how the same project would have gone under waterfall, and how to decide between the two. Everything here comes out of the SNHU Travel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Verwijs and Russo found that team effectiveness in Scrum depends on responsiveness, stakeholder concern and continuous improvement, not on any one person being in charge. That is why the Scrum Master is a coach rather than a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Kuhail and Lauesen studied user story quality in practice and found that vague stories without testable criteria are the main source of rework. That is the argument for writing acceptance criteria as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clearest argument in the pilot. The change did not break the project because the work was already in small pieces with a sprint boundary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for leadership is that this is a fit decision made project by project, not a company-wide mandate.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Kostin and Strode found that transparency, quality and discipline in communication are what build shared understanding. The five-versus-ten gap is what happens when discipline slips.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except the Cobb textbook were published within the last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105156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822960" y="3749040"/>
            <a:ext cx="10515600" cy="146304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7280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43000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10515600" cy="1371600"/>
          </a:xfrm>
          <a:prstGeom prst="rect">
            <a:avLst/>
          </a:prstGeom>
          <a:noFill/>
          <a:ln/>
        </p:spPr>
        <p:txBody>
          <a:bodyPr wrap="square" lIns="0" tIns="0" rIns="0" bIns="0" rtlCol="0"/>
          <a:lstStyle/>
          <a:p>
            <a:pPr algn="l" indent="0" marL="0">
              <a:buNone/>
            </a:pPr>
            <a:r>
              <a:rPr lang="en-US" sz="4400" b="1" dirty="0">
                <a:solidFill>
                  <a:schemeClr val="bg1"/>
                </a:solidFill>
              </a:rPr>
              <a:t>Moving to Scrum-Agile</a:t>
            </a:r>
            <a:endParaRPr lang="en-US" sz="4400" dirty="0"/>
          </a:p>
        </p:txBody>
      </p:sp>
      <p:sp>
        <p:nvSpPr>
          <p:cNvPr id="3" name="Text 0"/>
          <p:cNvSpPr/>
          <p:nvPr>
            <p:ph idx="101" type="body" hasCustomPrompt="1"/>
          </p:nvPr>
        </p:nvSpPr>
        <p:spPr>
          <a:xfrm>
            <a:off x="822960" y="3749040"/>
            <a:ext cx="10515600" cy="1463040"/>
          </a:xfrm>
          <a:prstGeom prst="rect">
            <a:avLst/>
          </a:prstGeom>
          <a:noFill/>
          <a:ln/>
        </p:spPr>
        <p:txBody>
          <a:bodyPr wrap="square" lIns="0" tIns="0" rIns="0" bIns="0" rtlCol="0"/>
          <a:lstStyle/>
          <a:p>
            <a:pPr algn="l" indent="0" marL="0">
              <a:buNone/>
            </a:pPr>
            <a:r>
              <a:rPr lang="en-US" sz="1800" dirty="0">
                <a:solidFill>
                  <a:schemeClr val="accent3"/>
                </a:solidFill>
              </a:rPr>
              <a:t>What the SNHU Travel pilot taught us, and what it means for ChadaTech</a:t>
            </a:r>
            <a:endParaRPr lang="en-US" sz="1800" dirty="0"/>
          </a:p>
        </p:txBody>
      </p:sp>
      <p:sp>
        <p:nvSpPr>
          <p:cNvPr id="4" name="motif-large"/>
          <p:cNvSpPr/>
          <p:nvPr/>
        </p:nvSpPr>
        <p:spPr>
          <a:xfrm>
            <a:off x="8778240" y="640080"/>
            <a:ext cx="2926080" cy="2926080"/>
          </a:xfrm>
          <a:prstGeom prst="ellipse">
            <a:avLst/>
          </a:prstGeom>
          <a:solidFill>
            <a:schemeClr val="accent1"/>
          </a:solidFill>
          <a:ln w="12700">
            <a:solidFill>
              <a:schemeClr val="accent1"/>
            </a:solidFill>
            <a:prstDash val="solid"/>
          </a:ln>
        </p:spPr>
      </p:sp>
      <p:sp>
        <p:nvSpPr>
          <p:cNvPr id="5" name="motif-small"/>
          <p:cNvSpPr/>
          <p:nvPr/>
        </p:nvSpPr>
        <p:spPr>
          <a:xfrm>
            <a:off x="10332720" y="3931920"/>
            <a:ext cx="1371600" cy="1371600"/>
          </a:xfrm>
          <a:prstGeom prst="ellipse">
            <a:avLst/>
          </a:prstGeom>
          <a:solidFill>
            <a:schemeClr val="accent2"/>
          </a:solidFill>
          <a:ln w="12700">
            <a:solidFill>
              <a:schemeClr val="accent2"/>
            </a:solidFill>
            <a:prstDash val="solid"/>
          </a:ln>
        </p:spPr>
      </p:sp>
      <p:sp>
        <p:nvSpPr>
          <p:cNvPr id="6" name="Text 4"/>
          <p:cNvSpPr txBox="1"/>
          <p:nvPr/>
        </p:nvSpPr>
        <p:spPr>
          <a:xfrm>
            <a:off x="822960" y="5852160"/>
            <a:ext cx="10515600" cy="365760"/>
          </a:xfrm>
          <a:prstGeom prst="rect">
            <a:avLst/>
          </a:prstGeom>
          <a:noFill/>
          <a:ln/>
        </p:spPr>
        <p:txBody>
          <a:bodyPr wrap="square" lIns="0" tIns="0" rIns="0" bIns="0" rtlCol="0" anchor="ctr"/>
          <a:lstStyle/>
          <a:p>
            <a:pPr algn="l" indent="0" marL="0">
              <a:buNone/>
            </a:pPr>
            <a:r>
              <a:rPr lang="en-US" sz="1300" dirty="0">
                <a:solidFill>
                  <a:schemeClr val="accent2"/>
                </a:solidFill>
              </a:rPr>
              <a:t>Bana El Schad Desrosiers  |  CS 250  |  Southern New Hampshire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72800" cy="822960"/>
          </a:xfrm>
          <a:prstGeom prst="rect">
            <a:avLst/>
          </a:prstGeom>
          <a:noFill/>
          <a:ln/>
        </p:spPr>
        <p:txBody>
          <a:bodyPr wrap="square" lIns="0" tIns="0" rIns="0" bIns="0" rtlCol="0"/>
          <a:lstStyle/>
          <a:p>
            <a:pPr algn="l" indent="0" marL="0">
              <a:buNone/>
            </a:pPr>
            <a:r>
              <a:rPr lang="en-US" sz="3600" b="1" dirty="0">
                <a:solidFill>
                  <a:schemeClr val="tx2"/>
                </a:solidFill>
              </a:rPr>
              <a:t>Who does what on a Scrum team</a:t>
            </a:r>
            <a:endParaRPr lang="en-US" sz="3600" dirty="0"/>
          </a:p>
        </p:txBody>
      </p:sp>
      <p:sp>
        <p:nvSpPr>
          <p:cNvPr id="3" name="Text 1"/>
          <p:cNvSpPr txBox="1"/>
          <p:nvPr/>
        </p:nvSpPr>
        <p:spPr>
          <a:xfrm>
            <a:off x="640080" y="1188720"/>
            <a:ext cx="10972800" cy="320040"/>
          </a:xfrm>
          <a:prstGeom prst="rect">
            <a:avLst/>
          </a:prstGeom>
          <a:noFill/>
          <a:ln/>
        </p:spPr>
        <p:txBody>
          <a:bodyPr wrap="square" lIns="0" tIns="0" rIns="0" bIns="0" rtlCol="0" anchor="ctr"/>
          <a:lstStyle/>
          <a:p>
            <a:pPr algn="l" indent="0" marL="0">
              <a:buNone/>
            </a:pPr>
            <a:r>
              <a:rPr lang="en-US" sz="1500" dirty="0">
                <a:solidFill>
                  <a:schemeClr val="accent6"/>
                </a:solidFill>
              </a:rPr>
              <a:t>Three accountabilities, plus the testers who sit inside the development team</a:t>
            </a:r>
            <a:endParaRPr lang="en-US" sz="1500" dirty="0"/>
          </a:p>
        </p:txBody>
      </p:sp>
      <p:sp>
        <p:nvSpPr>
          <p:cNvPr id="4" name="card-1"/>
          <p:cNvSpPr/>
          <p:nvPr/>
        </p:nvSpPr>
        <p:spPr>
          <a:xfrm>
            <a:off x="640080" y="1691640"/>
            <a:ext cx="5394960" cy="2103120"/>
          </a:xfrm>
          <a:prstGeom prst="roundRect">
            <a:avLst>
              <a:gd name="adj" fmla="val 4348"/>
            </a:avLst>
          </a:prstGeom>
          <a:solidFill>
            <a:schemeClr val="bg2"/>
          </a:solidFill>
          <a:ln w="12700">
            <a:solidFill>
              <a:schemeClr val="bg2"/>
            </a:solidFill>
            <a:prstDash val="solid"/>
          </a:ln>
        </p:spPr>
      </p:sp>
      <p:sp>
        <p:nvSpPr>
          <p:cNvPr id="5" name="circle-1"/>
          <p:cNvSpPr/>
          <p:nvPr/>
        </p:nvSpPr>
        <p:spPr>
          <a:xfrm>
            <a:off x="914400" y="1965960"/>
            <a:ext cx="566928" cy="566928"/>
          </a:xfrm>
          <a:prstGeom prst="ellipse">
            <a:avLst/>
          </a:prstGeom>
          <a:solidFill>
            <a:schemeClr val="accent1"/>
          </a:solidFill>
          <a:ln w="12700">
            <a:solidFill>
              <a:schemeClr val="accent1"/>
            </a:solidFill>
            <a:prstDash val="solid"/>
          </a:ln>
        </p:spPr>
      </p:sp>
      <p:sp>
        <p:nvSpPr>
          <p:cNvPr id="6" name="Text 4"/>
          <p:cNvSpPr txBox="1"/>
          <p:nvPr/>
        </p:nvSpPr>
        <p:spPr>
          <a:xfrm>
            <a:off x="91440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7" name="Text 5"/>
          <p:cNvSpPr txBox="1"/>
          <p:nvPr/>
        </p:nvSpPr>
        <p:spPr>
          <a:xfrm>
            <a:off x="1600200" y="1965960"/>
            <a:ext cx="4160520" cy="566928"/>
          </a:xfrm>
          <a:prstGeom prst="rect">
            <a:avLst/>
          </a:prstGeom>
          <a:noFill/>
          <a:ln/>
        </p:spPr>
        <p:txBody>
          <a:bodyPr wrap="square" lIns="0" tIns="0" rIns="0" bIns="0" rtlCol="0" anchor="ctr"/>
          <a:lstStyle/>
          <a:p>
            <a:pPr algn="l" indent="0" marL="0">
              <a:buNone/>
            </a:pPr>
            <a:r>
              <a:rPr lang="en-US" sz="1900" b="1" dirty="0">
                <a:solidFill>
                  <a:schemeClr val="tx2"/>
                </a:solidFill>
              </a:rPr>
              <a:t>Product Owner</a:t>
            </a:r>
            <a:endParaRPr lang="en-US" sz="1900" dirty="0"/>
          </a:p>
        </p:txBody>
      </p:sp>
      <p:sp>
        <p:nvSpPr>
          <p:cNvPr id="8" name="Text 6"/>
          <p:cNvSpPr txBox="1"/>
          <p:nvPr/>
        </p:nvSpPr>
        <p:spPr>
          <a:xfrm>
            <a:off x="914400" y="2651760"/>
            <a:ext cx="4846320" cy="8686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Owns the backlog and decides what gets built first. Talks to users and turns what they say into stories the team can work from. On SNHU Travel this role ran the focus group and set the priority order.</a:t>
            </a:r>
            <a:endParaRPr lang="en-US" sz="1400" dirty="0"/>
          </a:p>
        </p:txBody>
      </p:sp>
      <p:sp>
        <p:nvSpPr>
          <p:cNvPr id="9" name="card-2"/>
          <p:cNvSpPr/>
          <p:nvPr/>
        </p:nvSpPr>
        <p:spPr>
          <a:xfrm>
            <a:off x="6309360" y="1691640"/>
            <a:ext cx="5212080" cy="2103120"/>
          </a:xfrm>
          <a:prstGeom prst="roundRect">
            <a:avLst>
              <a:gd name="adj" fmla="val 4348"/>
            </a:avLst>
          </a:prstGeom>
          <a:solidFill>
            <a:schemeClr val="bg2"/>
          </a:solidFill>
          <a:ln w="12700">
            <a:solidFill>
              <a:schemeClr val="bg2"/>
            </a:solidFill>
            <a:prstDash val="solid"/>
          </a:ln>
        </p:spPr>
      </p:sp>
      <p:sp>
        <p:nvSpPr>
          <p:cNvPr id="10" name="circle-2"/>
          <p:cNvSpPr/>
          <p:nvPr/>
        </p:nvSpPr>
        <p:spPr>
          <a:xfrm>
            <a:off x="6583680" y="1965960"/>
            <a:ext cx="566928" cy="566928"/>
          </a:xfrm>
          <a:prstGeom prst="ellipse">
            <a:avLst/>
          </a:prstGeom>
          <a:solidFill>
            <a:schemeClr val="accent4"/>
          </a:solidFill>
          <a:ln w="12700">
            <a:solidFill>
              <a:schemeClr val="accent4"/>
            </a:solidFill>
            <a:prstDash val="solid"/>
          </a:ln>
        </p:spPr>
      </p:sp>
      <p:sp>
        <p:nvSpPr>
          <p:cNvPr id="11" name="Text 9"/>
          <p:cNvSpPr txBox="1"/>
          <p:nvPr/>
        </p:nvSpPr>
        <p:spPr>
          <a:xfrm>
            <a:off x="658368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2" name="Text 10"/>
          <p:cNvSpPr txBox="1"/>
          <p:nvPr/>
        </p:nvSpPr>
        <p:spPr>
          <a:xfrm>
            <a:off x="7269480" y="1965960"/>
            <a:ext cx="3977640" cy="566928"/>
          </a:xfrm>
          <a:prstGeom prst="rect">
            <a:avLst/>
          </a:prstGeom>
          <a:noFill/>
          <a:ln/>
        </p:spPr>
        <p:txBody>
          <a:bodyPr wrap="square" lIns="0" tIns="0" rIns="0" bIns="0" rtlCol="0" anchor="ctr"/>
          <a:lstStyle/>
          <a:p>
            <a:pPr algn="l" indent="0" marL="0">
              <a:buNone/>
            </a:pPr>
            <a:r>
              <a:rPr lang="en-US" sz="1900" b="1" dirty="0">
                <a:solidFill>
                  <a:schemeClr val="tx2"/>
                </a:solidFill>
              </a:rPr>
              <a:t>Scrum Master</a:t>
            </a:r>
            <a:endParaRPr lang="en-US" sz="1900" dirty="0"/>
          </a:p>
        </p:txBody>
      </p:sp>
      <p:sp>
        <p:nvSpPr>
          <p:cNvPr id="13" name="Text 11"/>
          <p:cNvSpPr txBox="1"/>
          <p:nvPr/>
        </p:nvSpPr>
        <p:spPr>
          <a:xfrm>
            <a:off x="6583680" y="2651760"/>
            <a:ext cx="4663440" cy="8686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Runs the Scrum events, clears blockers, and coaches the team through the change. Does not assign work or act as a manager. Sets up the team charter and protects the sprint from interruptions.</a:t>
            </a:r>
            <a:endParaRPr lang="en-US" sz="1400" dirty="0"/>
          </a:p>
        </p:txBody>
      </p:sp>
      <p:sp>
        <p:nvSpPr>
          <p:cNvPr id="14" name="card-3"/>
          <p:cNvSpPr/>
          <p:nvPr/>
        </p:nvSpPr>
        <p:spPr>
          <a:xfrm>
            <a:off x="640080" y="3977640"/>
            <a:ext cx="5394960" cy="2103120"/>
          </a:xfrm>
          <a:prstGeom prst="roundRect">
            <a:avLst>
              <a:gd name="adj" fmla="val 4348"/>
            </a:avLst>
          </a:prstGeom>
          <a:solidFill>
            <a:schemeClr val="bg2"/>
          </a:solidFill>
          <a:ln w="12700">
            <a:solidFill>
              <a:schemeClr val="bg2"/>
            </a:solidFill>
            <a:prstDash val="solid"/>
          </a:ln>
        </p:spPr>
      </p:sp>
      <p:sp>
        <p:nvSpPr>
          <p:cNvPr id="15" name="circle-3"/>
          <p:cNvSpPr/>
          <p:nvPr/>
        </p:nvSpPr>
        <p:spPr>
          <a:xfrm>
            <a:off x="914400" y="4251960"/>
            <a:ext cx="566928" cy="566928"/>
          </a:xfrm>
          <a:prstGeom prst="ellipse">
            <a:avLst/>
          </a:prstGeom>
          <a:solidFill>
            <a:schemeClr val="accent6"/>
          </a:solidFill>
          <a:ln w="12700">
            <a:solidFill>
              <a:schemeClr val="accent6"/>
            </a:solidFill>
            <a:prstDash val="solid"/>
          </a:ln>
        </p:spPr>
      </p:sp>
      <p:sp>
        <p:nvSpPr>
          <p:cNvPr id="16" name="Text 14"/>
          <p:cNvSpPr txBox="1"/>
          <p:nvPr/>
        </p:nvSpPr>
        <p:spPr>
          <a:xfrm>
            <a:off x="914400" y="4251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7" name="Text 15"/>
          <p:cNvSpPr txBox="1"/>
          <p:nvPr/>
        </p:nvSpPr>
        <p:spPr>
          <a:xfrm>
            <a:off x="1600200" y="4251960"/>
            <a:ext cx="4160520" cy="566928"/>
          </a:xfrm>
          <a:prstGeom prst="rect">
            <a:avLst/>
          </a:prstGeom>
          <a:noFill/>
          <a:ln/>
        </p:spPr>
        <p:txBody>
          <a:bodyPr wrap="square" lIns="0" tIns="0" rIns="0" bIns="0" rtlCol="0" anchor="ctr"/>
          <a:lstStyle/>
          <a:p>
            <a:pPr algn="l" indent="0" marL="0">
              <a:buNone/>
            </a:pPr>
            <a:r>
              <a:rPr lang="en-US" sz="1900" b="1" dirty="0">
                <a:solidFill>
                  <a:schemeClr val="tx2"/>
                </a:solidFill>
              </a:rPr>
              <a:t>Developers</a:t>
            </a:r>
            <a:endParaRPr lang="en-US" sz="1900" dirty="0"/>
          </a:p>
        </p:txBody>
      </p:sp>
      <p:sp>
        <p:nvSpPr>
          <p:cNvPr id="18" name="Text 16"/>
          <p:cNvSpPr txBox="1"/>
          <p:nvPr/>
        </p:nvSpPr>
        <p:spPr>
          <a:xfrm>
            <a:off x="914400" y="4937760"/>
            <a:ext cx="4846320" cy="8686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Decide how to build each story and do the work. They pull their own tasks instead of being handed them, which spreads knowledge and avoids the single points of failure that specialist silos create.</a:t>
            </a:r>
            <a:endParaRPr lang="en-US" sz="1400" dirty="0"/>
          </a:p>
        </p:txBody>
      </p:sp>
      <p:sp>
        <p:nvSpPr>
          <p:cNvPr id="19" name="card-4"/>
          <p:cNvSpPr/>
          <p:nvPr/>
        </p:nvSpPr>
        <p:spPr>
          <a:xfrm>
            <a:off x="6309360" y="3977640"/>
            <a:ext cx="5212080" cy="2103120"/>
          </a:xfrm>
          <a:prstGeom prst="roundRect">
            <a:avLst>
              <a:gd name="adj" fmla="val 4348"/>
            </a:avLst>
          </a:prstGeom>
          <a:solidFill>
            <a:schemeClr val="bg2"/>
          </a:solidFill>
          <a:ln w="12700">
            <a:solidFill>
              <a:schemeClr val="bg2"/>
            </a:solidFill>
            <a:prstDash val="solid"/>
          </a:ln>
        </p:spPr>
      </p:sp>
      <p:sp>
        <p:nvSpPr>
          <p:cNvPr id="20" name="circle-4"/>
          <p:cNvSpPr/>
          <p:nvPr/>
        </p:nvSpPr>
        <p:spPr>
          <a:xfrm>
            <a:off x="6583680" y="4251960"/>
            <a:ext cx="566928" cy="566928"/>
          </a:xfrm>
          <a:prstGeom prst="ellipse">
            <a:avLst/>
          </a:prstGeom>
          <a:solidFill>
            <a:schemeClr val="accent2"/>
          </a:solidFill>
          <a:ln w="12700">
            <a:solidFill>
              <a:schemeClr val="accent2"/>
            </a:solidFill>
            <a:prstDash val="solid"/>
          </a:ln>
        </p:spPr>
      </p:sp>
      <p:sp>
        <p:nvSpPr>
          <p:cNvPr id="21" name="Text 19"/>
          <p:cNvSpPr txBox="1"/>
          <p:nvPr/>
        </p:nvSpPr>
        <p:spPr>
          <a:xfrm>
            <a:off x="6583680" y="4251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2" name="Text 20"/>
          <p:cNvSpPr txBox="1"/>
          <p:nvPr/>
        </p:nvSpPr>
        <p:spPr>
          <a:xfrm>
            <a:off x="7269480" y="4251960"/>
            <a:ext cx="3977640" cy="566928"/>
          </a:xfrm>
          <a:prstGeom prst="rect">
            <a:avLst/>
          </a:prstGeom>
          <a:noFill/>
          <a:ln/>
        </p:spPr>
        <p:txBody>
          <a:bodyPr wrap="square" lIns="0" tIns="0" rIns="0" bIns="0" rtlCol="0" anchor="ctr"/>
          <a:lstStyle/>
          <a:p>
            <a:pPr algn="l" indent="0" marL="0">
              <a:buNone/>
            </a:pPr>
            <a:r>
              <a:rPr lang="en-US" sz="1900" b="1" dirty="0">
                <a:solidFill>
                  <a:schemeClr val="tx2"/>
                </a:solidFill>
              </a:rPr>
              <a:t>Testers</a:t>
            </a:r>
            <a:endParaRPr lang="en-US" sz="1900" dirty="0"/>
          </a:p>
        </p:txBody>
      </p:sp>
      <p:sp>
        <p:nvSpPr>
          <p:cNvPr id="23" name="Text 21"/>
          <p:cNvSpPr txBox="1"/>
          <p:nvPr/>
        </p:nvSpPr>
        <p:spPr>
          <a:xfrm>
            <a:off x="6583680" y="4937760"/>
            <a:ext cx="4663440" cy="8686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Part of the development team, not a separate gate at the end. They review acceptance criteria before work starts and test small pieces as they finish, so defects surface while they are still cheap.</a:t>
            </a:r>
            <a:endParaRPr lang="en-US" sz="1400" dirty="0"/>
          </a:p>
        </p:txBody>
      </p:sp>
      <p:sp>
        <p:nvSpPr>
          <p:cNvPr id="24" name="Text 22"/>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1000" i="1" dirty="0">
                <a:solidFill>
                  <a:schemeClr val="accent6"/>
                </a:solidFill>
              </a:rPr>
              <a:t>Verwijs &amp; Russo (2023); Cobb (2015)</a:t>
            </a:r>
            <a:endParaRPr lang="en-US" sz="1000" dirty="0"/>
          </a:p>
        </p:txBody>
      </p:sp>
      <p:sp>
        <p:nvSpPr>
          <p:cNvPr id="25" name="Slide Number Placeholder 0"/>
          <p:cNvSpPr>
            <a:spLocks noGrp="1"/>
          </p:cNvSpPr>
          <p:nvPr>
            <p:ph type="sldNum" sz="quarter" idx="4294967295"/>
          </p:nvPr>
        </p:nvSpPr>
        <p:spPr>
          <a:xfrm>
            <a:off x="1143000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72800" cy="822960"/>
          </a:xfrm>
          <a:prstGeom prst="rect">
            <a:avLst/>
          </a:prstGeom>
          <a:noFill/>
          <a:ln/>
        </p:spPr>
        <p:txBody>
          <a:bodyPr wrap="square" lIns="0" tIns="0" rIns="0" bIns="0" rtlCol="0"/>
          <a:lstStyle/>
          <a:p>
            <a:pPr algn="l" indent="0" marL="0">
              <a:buNone/>
            </a:pPr>
            <a:r>
              <a:rPr lang="en-US" sz="3600" b="1" dirty="0">
                <a:solidFill>
                  <a:schemeClr val="tx2"/>
                </a:solidFill>
              </a:rPr>
              <a:t>The lifecycle phases still happen, just every sprint</a:t>
            </a:r>
            <a:endParaRPr lang="en-US" sz="3600" dirty="0"/>
          </a:p>
        </p:txBody>
      </p:sp>
      <p:sp>
        <p:nvSpPr>
          <p:cNvPr id="3" name="Text 1"/>
          <p:cNvSpPr txBox="1"/>
          <p:nvPr/>
        </p:nvSpPr>
        <p:spPr>
          <a:xfrm>
            <a:off x="640080" y="1188720"/>
            <a:ext cx="10972800" cy="320040"/>
          </a:xfrm>
          <a:prstGeom prst="rect">
            <a:avLst/>
          </a:prstGeom>
          <a:noFill/>
          <a:ln/>
        </p:spPr>
        <p:txBody>
          <a:bodyPr wrap="square" lIns="0" tIns="0" rIns="0" bIns="0" rtlCol="0" anchor="ctr"/>
          <a:lstStyle/>
          <a:p>
            <a:pPr algn="l" indent="0" marL="0">
              <a:buNone/>
            </a:pPr>
            <a:r>
              <a:rPr lang="en-US" sz="1500" dirty="0">
                <a:solidFill>
                  <a:schemeClr val="accent6"/>
                </a:solidFill>
              </a:rPr>
              <a:t>Waterfall runs each phase once. Agile runs all of them inside every short cycle.</a:t>
            </a:r>
            <a:endParaRPr lang="en-US" sz="1500" dirty="0"/>
          </a:p>
        </p:txBody>
      </p:sp>
      <p:sp>
        <p:nvSpPr>
          <p:cNvPr id="4" name="phase-0"/>
          <p:cNvSpPr/>
          <p:nvPr/>
        </p:nvSpPr>
        <p:spPr>
          <a:xfrm>
            <a:off x="640080" y="1828800"/>
            <a:ext cx="2212848" cy="2377440"/>
          </a:xfrm>
          <a:prstGeom prst="roundRect">
            <a:avLst>
              <a:gd name="adj" fmla="val 4132"/>
            </a:avLst>
          </a:prstGeom>
          <a:solidFill>
            <a:schemeClr val="bg2"/>
          </a:solidFill>
          <a:ln w="12700">
            <a:solidFill>
              <a:schemeClr val="bg2"/>
            </a:solidFill>
            <a:prstDash val="solid"/>
          </a:ln>
        </p:spPr>
      </p:sp>
      <p:sp>
        <p:nvSpPr>
          <p:cNvPr id="5" name="phasenum-0"/>
          <p:cNvSpPr/>
          <p:nvPr/>
        </p:nvSpPr>
        <p:spPr>
          <a:xfrm>
            <a:off x="1490472" y="2057400"/>
            <a:ext cx="512064" cy="512064"/>
          </a:xfrm>
          <a:prstGeom prst="ellipse">
            <a:avLst/>
          </a:prstGeom>
          <a:solidFill>
            <a:schemeClr val="accent1"/>
          </a:solidFill>
          <a:ln w="12700">
            <a:solidFill>
              <a:schemeClr val="accent1"/>
            </a:solidFill>
            <a:prstDash val="solid"/>
          </a:ln>
        </p:spPr>
      </p:sp>
      <p:sp>
        <p:nvSpPr>
          <p:cNvPr id="6" name="Text 4"/>
          <p:cNvSpPr txBox="1"/>
          <p:nvPr/>
        </p:nvSpPr>
        <p:spPr>
          <a:xfrm>
            <a:off x="1490472" y="20574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5"/>
          <p:cNvSpPr txBox="1"/>
          <p:nvPr/>
        </p:nvSpPr>
        <p:spPr>
          <a:xfrm>
            <a:off x="777240" y="2697480"/>
            <a:ext cx="1938528" cy="548640"/>
          </a:xfrm>
          <a:prstGeom prst="rect">
            <a:avLst/>
          </a:prstGeom>
          <a:noFill/>
          <a:ln/>
        </p:spPr>
        <p:txBody>
          <a:bodyPr wrap="square" lIns="0" tIns="0" rIns="0" bIns="0" rtlCol="0" anchor="ctr"/>
          <a:lstStyle/>
          <a:p>
            <a:pPr algn="ctr" indent="0" marL="0">
              <a:buNone/>
            </a:pPr>
            <a:r>
              <a:rPr lang="en-US" sz="1600" b="1" dirty="0">
                <a:solidFill>
                  <a:schemeClr val="tx2"/>
                </a:solidFill>
              </a:rPr>
              <a:t>Requirements</a:t>
            </a:r>
            <a:endParaRPr lang="en-US" sz="1600" dirty="0"/>
          </a:p>
        </p:txBody>
      </p:sp>
      <p:sp>
        <p:nvSpPr>
          <p:cNvPr id="8" name="Text 6"/>
          <p:cNvSpPr txBox="1"/>
          <p:nvPr/>
        </p:nvSpPr>
        <p:spPr>
          <a:xfrm>
            <a:off x="777240" y="3291840"/>
            <a:ext cx="1938528" cy="1143000"/>
          </a:xfrm>
          <a:prstGeom prst="rect">
            <a:avLst/>
          </a:prstGeom>
          <a:noFill/>
          <a:ln/>
        </p:spPr>
        <p:txBody>
          <a:bodyPr wrap="square" lIns="0" tIns="0" rIns="0" bIns="0" rtlCol="0" anchor="t"/>
          <a:lstStyle/>
          <a:p>
            <a:pPr algn="ctr" indent="0" marL="0">
              <a:lnSpc>
                <a:spcPct val="110000"/>
              </a:lnSpc>
              <a:buNone/>
            </a:pPr>
            <a:r>
              <a:rPr lang="en-US" sz="1200" dirty="0">
                <a:solidFill>
                  <a:schemeClr val="tx1"/>
                </a:solidFill>
              </a:rPr>
              <a:t>User stories written with the user, sized, and ordered in the backlog</a:t>
            </a:r>
            <a:endParaRPr lang="en-US" sz="1200" dirty="0"/>
          </a:p>
        </p:txBody>
      </p:sp>
      <p:sp>
        <p:nvSpPr>
          <p:cNvPr id="9" name="phase-1"/>
          <p:cNvSpPr/>
          <p:nvPr/>
        </p:nvSpPr>
        <p:spPr>
          <a:xfrm>
            <a:off x="2898648" y="1828800"/>
            <a:ext cx="2212848" cy="2377440"/>
          </a:xfrm>
          <a:prstGeom prst="roundRect">
            <a:avLst>
              <a:gd name="adj" fmla="val 4132"/>
            </a:avLst>
          </a:prstGeom>
          <a:solidFill>
            <a:schemeClr val="accent5"/>
          </a:solidFill>
          <a:ln w="12700">
            <a:solidFill>
              <a:schemeClr val="bg2"/>
            </a:solidFill>
            <a:prstDash val="solid"/>
          </a:ln>
        </p:spPr>
      </p:sp>
      <p:sp>
        <p:nvSpPr>
          <p:cNvPr id="10" name="phasenum-1"/>
          <p:cNvSpPr/>
          <p:nvPr/>
        </p:nvSpPr>
        <p:spPr>
          <a:xfrm>
            <a:off x="3749040" y="2057400"/>
            <a:ext cx="512064" cy="512064"/>
          </a:xfrm>
          <a:prstGeom prst="ellipse">
            <a:avLst/>
          </a:prstGeom>
          <a:solidFill>
            <a:schemeClr val="accent1"/>
          </a:solidFill>
          <a:ln w="12700">
            <a:solidFill>
              <a:schemeClr val="accent1"/>
            </a:solidFill>
            <a:prstDash val="solid"/>
          </a:ln>
        </p:spPr>
      </p:sp>
      <p:sp>
        <p:nvSpPr>
          <p:cNvPr id="11" name="Text 9"/>
          <p:cNvSpPr txBox="1"/>
          <p:nvPr/>
        </p:nvSpPr>
        <p:spPr>
          <a:xfrm>
            <a:off x="3749040" y="20574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Text 10"/>
          <p:cNvSpPr txBox="1"/>
          <p:nvPr/>
        </p:nvSpPr>
        <p:spPr>
          <a:xfrm>
            <a:off x="3035808" y="2697480"/>
            <a:ext cx="1938528" cy="548640"/>
          </a:xfrm>
          <a:prstGeom prst="rect">
            <a:avLst/>
          </a:prstGeom>
          <a:noFill/>
          <a:ln/>
        </p:spPr>
        <p:txBody>
          <a:bodyPr wrap="square" lIns="0" tIns="0" rIns="0" bIns="0" rtlCol="0" anchor="ctr"/>
          <a:lstStyle/>
          <a:p>
            <a:pPr algn="ctr" indent="0" marL="0">
              <a:buNone/>
            </a:pPr>
            <a:r>
              <a:rPr lang="en-US" sz="1600" b="1" dirty="0">
                <a:solidFill>
                  <a:schemeClr val="tx2"/>
                </a:solidFill>
              </a:rPr>
              <a:t>Design</a:t>
            </a:r>
            <a:endParaRPr lang="en-US" sz="1600" dirty="0"/>
          </a:p>
        </p:txBody>
      </p:sp>
      <p:sp>
        <p:nvSpPr>
          <p:cNvPr id="13" name="Text 11"/>
          <p:cNvSpPr txBox="1"/>
          <p:nvPr/>
        </p:nvSpPr>
        <p:spPr>
          <a:xfrm>
            <a:off x="3035808" y="3291840"/>
            <a:ext cx="1938528" cy="1143000"/>
          </a:xfrm>
          <a:prstGeom prst="rect">
            <a:avLst/>
          </a:prstGeom>
          <a:noFill/>
          <a:ln/>
        </p:spPr>
        <p:txBody>
          <a:bodyPr wrap="square" lIns="0" tIns="0" rIns="0" bIns="0" rtlCol="0" anchor="t"/>
          <a:lstStyle/>
          <a:p>
            <a:pPr algn="ctr" indent="0" marL="0">
              <a:lnSpc>
                <a:spcPct val="110000"/>
              </a:lnSpc>
              <a:buNone/>
            </a:pPr>
            <a:r>
              <a:rPr lang="en-US" sz="1200" dirty="0">
                <a:solidFill>
                  <a:schemeClr val="tx1"/>
                </a:solidFill>
              </a:rPr>
              <a:t>Just enough design for this sprint, often a wireframe the team reacts to</a:t>
            </a:r>
            <a:endParaRPr lang="en-US" sz="1200" dirty="0"/>
          </a:p>
        </p:txBody>
      </p:sp>
      <p:sp>
        <p:nvSpPr>
          <p:cNvPr id="14" name="phase-2"/>
          <p:cNvSpPr/>
          <p:nvPr/>
        </p:nvSpPr>
        <p:spPr>
          <a:xfrm>
            <a:off x="5157216" y="1828800"/>
            <a:ext cx="2212848" cy="2377440"/>
          </a:xfrm>
          <a:prstGeom prst="roundRect">
            <a:avLst>
              <a:gd name="adj" fmla="val 4132"/>
            </a:avLst>
          </a:prstGeom>
          <a:solidFill>
            <a:schemeClr val="bg2"/>
          </a:solidFill>
          <a:ln w="12700">
            <a:solidFill>
              <a:schemeClr val="bg2"/>
            </a:solidFill>
            <a:prstDash val="solid"/>
          </a:ln>
        </p:spPr>
      </p:sp>
      <p:sp>
        <p:nvSpPr>
          <p:cNvPr id="15" name="phasenum-2"/>
          <p:cNvSpPr/>
          <p:nvPr/>
        </p:nvSpPr>
        <p:spPr>
          <a:xfrm>
            <a:off x="6007608" y="2057400"/>
            <a:ext cx="512064" cy="512064"/>
          </a:xfrm>
          <a:prstGeom prst="ellipse">
            <a:avLst/>
          </a:prstGeom>
          <a:solidFill>
            <a:schemeClr val="accent1"/>
          </a:solidFill>
          <a:ln w="12700">
            <a:solidFill>
              <a:schemeClr val="accent1"/>
            </a:solidFill>
            <a:prstDash val="solid"/>
          </a:ln>
        </p:spPr>
      </p:sp>
      <p:sp>
        <p:nvSpPr>
          <p:cNvPr id="16" name="Text 14"/>
          <p:cNvSpPr txBox="1"/>
          <p:nvPr/>
        </p:nvSpPr>
        <p:spPr>
          <a:xfrm>
            <a:off x="6007608" y="20574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7" name="Text 15"/>
          <p:cNvSpPr txBox="1"/>
          <p:nvPr/>
        </p:nvSpPr>
        <p:spPr>
          <a:xfrm>
            <a:off x="5294376" y="2697480"/>
            <a:ext cx="1938528" cy="548640"/>
          </a:xfrm>
          <a:prstGeom prst="rect">
            <a:avLst/>
          </a:prstGeom>
          <a:noFill/>
          <a:ln/>
        </p:spPr>
        <p:txBody>
          <a:bodyPr wrap="square" lIns="0" tIns="0" rIns="0" bIns="0" rtlCol="0" anchor="ctr"/>
          <a:lstStyle/>
          <a:p>
            <a:pPr algn="ctr" indent="0" marL="0">
              <a:buNone/>
            </a:pPr>
            <a:r>
              <a:rPr lang="en-US" sz="1600" b="1" dirty="0">
                <a:solidFill>
                  <a:schemeClr val="tx2"/>
                </a:solidFill>
              </a:rPr>
              <a:t>Build</a:t>
            </a:r>
            <a:endParaRPr lang="en-US" sz="1600" dirty="0"/>
          </a:p>
        </p:txBody>
      </p:sp>
      <p:sp>
        <p:nvSpPr>
          <p:cNvPr id="18" name="Text 16"/>
          <p:cNvSpPr txBox="1"/>
          <p:nvPr/>
        </p:nvSpPr>
        <p:spPr>
          <a:xfrm>
            <a:off x="5294376" y="3291840"/>
            <a:ext cx="1938528" cy="1143000"/>
          </a:xfrm>
          <a:prstGeom prst="rect">
            <a:avLst/>
          </a:prstGeom>
          <a:noFill/>
          <a:ln/>
        </p:spPr>
        <p:txBody>
          <a:bodyPr wrap="square" lIns="0" tIns="0" rIns="0" bIns="0" rtlCol="0" anchor="t"/>
          <a:lstStyle/>
          <a:p>
            <a:pPr algn="ctr" indent="0" marL="0">
              <a:lnSpc>
                <a:spcPct val="110000"/>
              </a:lnSpc>
              <a:buNone/>
            </a:pPr>
            <a:r>
              <a:rPr lang="en-US" sz="1200" dirty="0">
                <a:solidFill>
                  <a:schemeClr val="tx1"/>
                </a:solidFill>
              </a:rPr>
              <a:t>Developers implement the stories pulled into the sprint</a:t>
            </a:r>
            <a:endParaRPr lang="en-US" sz="1200" dirty="0"/>
          </a:p>
        </p:txBody>
      </p:sp>
      <p:sp>
        <p:nvSpPr>
          <p:cNvPr id="19" name="phase-3"/>
          <p:cNvSpPr/>
          <p:nvPr/>
        </p:nvSpPr>
        <p:spPr>
          <a:xfrm>
            <a:off x="7415784" y="1828800"/>
            <a:ext cx="2212848" cy="2377440"/>
          </a:xfrm>
          <a:prstGeom prst="roundRect">
            <a:avLst>
              <a:gd name="adj" fmla="val 4132"/>
            </a:avLst>
          </a:prstGeom>
          <a:solidFill>
            <a:schemeClr val="accent5"/>
          </a:solidFill>
          <a:ln w="12700">
            <a:solidFill>
              <a:schemeClr val="bg2"/>
            </a:solidFill>
            <a:prstDash val="solid"/>
          </a:ln>
        </p:spPr>
      </p:sp>
      <p:sp>
        <p:nvSpPr>
          <p:cNvPr id="20" name="phasenum-3"/>
          <p:cNvSpPr/>
          <p:nvPr/>
        </p:nvSpPr>
        <p:spPr>
          <a:xfrm>
            <a:off x="8266176" y="2057400"/>
            <a:ext cx="512064" cy="512064"/>
          </a:xfrm>
          <a:prstGeom prst="ellipse">
            <a:avLst/>
          </a:prstGeom>
          <a:solidFill>
            <a:schemeClr val="accent1"/>
          </a:solidFill>
          <a:ln w="12700">
            <a:solidFill>
              <a:schemeClr val="accent1"/>
            </a:solidFill>
            <a:prstDash val="solid"/>
          </a:ln>
        </p:spPr>
      </p:sp>
      <p:sp>
        <p:nvSpPr>
          <p:cNvPr id="21" name="Text 19"/>
          <p:cNvSpPr txBox="1"/>
          <p:nvPr/>
        </p:nvSpPr>
        <p:spPr>
          <a:xfrm>
            <a:off x="8266176" y="20574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2" name="Text 20"/>
          <p:cNvSpPr txBox="1"/>
          <p:nvPr/>
        </p:nvSpPr>
        <p:spPr>
          <a:xfrm>
            <a:off x="7552944" y="2697480"/>
            <a:ext cx="1938528" cy="548640"/>
          </a:xfrm>
          <a:prstGeom prst="rect">
            <a:avLst/>
          </a:prstGeom>
          <a:noFill/>
          <a:ln/>
        </p:spPr>
        <p:txBody>
          <a:bodyPr wrap="square" lIns="0" tIns="0" rIns="0" bIns="0" rtlCol="0" anchor="ctr"/>
          <a:lstStyle/>
          <a:p>
            <a:pPr algn="ctr" indent="0" marL="0">
              <a:buNone/>
            </a:pPr>
            <a:r>
              <a:rPr lang="en-US" sz="1600" b="1" dirty="0">
                <a:solidFill>
                  <a:schemeClr val="tx2"/>
                </a:solidFill>
              </a:rPr>
              <a:t>Test</a:t>
            </a:r>
            <a:endParaRPr lang="en-US" sz="1600" dirty="0"/>
          </a:p>
        </p:txBody>
      </p:sp>
      <p:sp>
        <p:nvSpPr>
          <p:cNvPr id="23" name="Text 21"/>
          <p:cNvSpPr txBox="1"/>
          <p:nvPr/>
        </p:nvSpPr>
        <p:spPr>
          <a:xfrm>
            <a:off x="7552944" y="3291840"/>
            <a:ext cx="1938528" cy="1143000"/>
          </a:xfrm>
          <a:prstGeom prst="rect">
            <a:avLst/>
          </a:prstGeom>
          <a:noFill/>
          <a:ln/>
        </p:spPr>
        <p:txBody>
          <a:bodyPr wrap="square" lIns="0" tIns="0" rIns="0" bIns="0" rtlCol="0" anchor="t"/>
          <a:lstStyle/>
          <a:p>
            <a:pPr algn="ctr" indent="0" marL="0">
              <a:lnSpc>
                <a:spcPct val="110000"/>
              </a:lnSpc>
              <a:buNone/>
            </a:pPr>
            <a:r>
              <a:rPr lang="en-US" sz="1200" dirty="0">
                <a:solidFill>
                  <a:schemeClr val="tx1"/>
                </a:solidFill>
              </a:rPr>
              <a:t>Testing runs alongside the build, against acceptance criteria agreed up front</a:t>
            </a:r>
            <a:endParaRPr lang="en-US" sz="1200" dirty="0"/>
          </a:p>
        </p:txBody>
      </p:sp>
      <p:sp>
        <p:nvSpPr>
          <p:cNvPr id="24" name="phase-4"/>
          <p:cNvSpPr/>
          <p:nvPr/>
        </p:nvSpPr>
        <p:spPr>
          <a:xfrm>
            <a:off x="9674352" y="1828800"/>
            <a:ext cx="2212848" cy="2377440"/>
          </a:xfrm>
          <a:prstGeom prst="roundRect">
            <a:avLst>
              <a:gd name="adj" fmla="val 4132"/>
            </a:avLst>
          </a:prstGeom>
          <a:solidFill>
            <a:schemeClr val="bg2"/>
          </a:solidFill>
          <a:ln w="12700">
            <a:solidFill>
              <a:schemeClr val="bg2"/>
            </a:solidFill>
            <a:prstDash val="solid"/>
          </a:ln>
        </p:spPr>
      </p:sp>
      <p:sp>
        <p:nvSpPr>
          <p:cNvPr id="25" name="phasenum-4"/>
          <p:cNvSpPr/>
          <p:nvPr/>
        </p:nvSpPr>
        <p:spPr>
          <a:xfrm>
            <a:off x="10524744" y="2057400"/>
            <a:ext cx="512064" cy="512064"/>
          </a:xfrm>
          <a:prstGeom prst="ellipse">
            <a:avLst/>
          </a:prstGeom>
          <a:solidFill>
            <a:schemeClr val="accent1"/>
          </a:solidFill>
          <a:ln w="12700">
            <a:solidFill>
              <a:schemeClr val="accent1"/>
            </a:solidFill>
            <a:prstDash val="solid"/>
          </a:ln>
        </p:spPr>
      </p:sp>
      <p:sp>
        <p:nvSpPr>
          <p:cNvPr id="26" name="Text 24"/>
          <p:cNvSpPr txBox="1"/>
          <p:nvPr/>
        </p:nvSpPr>
        <p:spPr>
          <a:xfrm>
            <a:off x="10524744" y="20574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7" name="Text 25"/>
          <p:cNvSpPr txBox="1"/>
          <p:nvPr/>
        </p:nvSpPr>
        <p:spPr>
          <a:xfrm>
            <a:off x="9811512" y="2697480"/>
            <a:ext cx="1938528" cy="548640"/>
          </a:xfrm>
          <a:prstGeom prst="rect">
            <a:avLst/>
          </a:prstGeom>
          <a:noFill/>
          <a:ln/>
        </p:spPr>
        <p:txBody>
          <a:bodyPr wrap="square" lIns="0" tIns="0" rIns="0" bIns="0" rtlCol="0" anchor="ctr"/>
          <a:lstStyle/>
          <a:p>
            <a:pPr algn="ctr" indent="0" marL="0">
              <a:buNone/>
            </a:pPr>
            <a:r>
              <a:rPr lang="en-US" sz="1600" b="1" dirty="0">
                <a:solidFill>
                  <a:schemeClr val="tx2"/>
                </a:solidFill>
              </a:rPr>
              <a:t>Deploy &amp; Review</a:t>
            </a:r>
            <a:endParaRPr lang="en-US" sz="1600" dirty="0"/>
          </a:p>
        </p:txBody>
      </p:sp>
      <p:sp>
        <p:nvSpPr>
          <p:cNvPr id="28" name="Text 26"/>
          <p:cNvSpPr txBox="1"/>
          <p:nvPr/>
        </p:nvSpPr>
        <p:spPr>
          <a:xfrm>
            <a:off x="9811512" y="3291840"/>
            <a:ext cx="1938528" cy="1143000"/>
          </a:xfrm>
          <a:prstGeom prst="rect">
            <a:avLst/>
          </a:prstGeom>
          <a:noFill/>
          <a:ln/>
        </p:spPr>
        <p:txBody>
          <a:bodyPr wrap="square" lIns="0" tIns="0" rIns="0" bIns="0" rtlCol="0" anchor="t"/>
          <a:lstStyle/>
          <a:p>
            <a:pPr algn="ctr" indent="0" marL="0">
              <a:lnSpc>
                <a:spcPct val="110000"/>
              </a:lnSpc>
              <a:buNone/>
            </a:pPr>
            <a:r>
              <a:rPr lang="en-US" sz="1200" dirty="0">
                <a:solidFill>
                  <a:schemeClr val="tx1"/>
                </a:solidFill>
              </a:rPr>
              <a:t>Working software is shown to the client, who can change direction</a:t>
            </a:r>
            <a:endParaRPr lang="en-US" sz="1200" dirty="0"/>
          </a:p>
        </p:txBody>
      </p:sp>
      <p:sp>
        <p:nvSpPr>
          <p:cNvPr id="29" name="loop-note"/>
          <p:cNvSpPr/>
          <p:nvPr/>
        </p:nvSpPr>
        <p:spPr>
          <a:xfrm>
            <a:off x="640080" y="4572000"/>
            <a:ext cx="10881360" cy="1371600"/>
          </a:xfrm>
          <a:prstGeom prst="roundRect">
            <a:avLst>
              <a:gd name="adj" fmla="val 6667"/>
            </a:avLst>
          </a:prstGeom>
          <a:solidFill>
            <a:schemeClr val="accent5"/>
          </a:solidFill>
          <a:ln w="12700">
            <a:solidFill>
              <a:schemeClr val="accent5"/>
            </a:solidFill>
            <a:prstDash val="solid"/>
          </a:ln>
        </p:spPr>
      </p:sp>
      <p:sp>
        <p:nvSpPr>
          <p:cNvPr id="30" name="Text 28"/>
          <p:cNvSpPr txBox="1"/>
          <p:nvPr/>
        </p:nvSpPr>
        <p:spPr>
          <a:xfrm>
            <a:off x="914400" y="4754880"/>
            <a:ext cx="10332720" cy="1005840"/>
          </a:xfrm>
          <a:prstGeom prst="rect">
            <a:avLst/>
          </a:prstGeom>
          <a:noFill/>
          <a:ln/>
        </p:spPr>
        <p:txBody>
          <a:bodyPr wrap="square" lIns="0" tIns="0" rIns="0" bIns="0" rtlCol="0" anchor="ctr"/>
          <a:lstStyle/>
          <a:p>
            <a:pPr algn="l" indent="0" marL="0">
              <a:lnSpc>
                <a:spcPct val="115000"/>
              </a:lnSpc>
              <a:buNone/>
            </a:pPr>
            <a:r>
              <a:rPr lang="en-US" sz="1400" b="1" dirty="0">
                <a:solidFill>
                  <a:schemeClr val="tx2"/>
                </a:solidFill>
              </a:rPr>
              <a:t>Then it repeats.  </a:t>
            </a:r>
            <a:pPr algn="l" indent="0" marL="0">
              <a:lnSpc>
                <a:spcPct val="115000"/>
              </a:lnSpc>
              <a:buNone/>
            </a:pPr>
            <a:r>
              <a:rPr lang="en-US" sz="1400" dirty="0">
                <a:solidFill>
                  <a:schemeClr val="tx1"/>
                </a:solidFill>
              </a:rPr>
              <a:t>SNHU Travel ran this loop five times. Each pass produced something that actually ran: a destination list in one sprint, a working slideshow in a later one. Stories only counted as finished when they met criteria written before the work started.</a:t>
            </a:r>
            <a:endParaRPr lang="en-US" sz="1400" dirty="0"/>
          </a:p>
        </p:txBody>
      </p:sp>
      <p:sp>
        <p:nvSpPr>
          <p:cNvPr id="31" name="Text 29"/>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1000" i="1" dirty="0">
                <a:solidFill>
                  <a:schemeClr val="accent6"/>
                </a:solidFill>
              </a:rPr>
              <a:t>Kuhail &amp; Lauesen (2022); Ferreira et al. (2023)</a:t>
            </a:r>
            <a:endParaRPr lang="en-US" sz="1000" dirty="0"/>
          </a:p>
        </p:txBody>
      </p:sp>
      <p:sp>
        <p:nvSpPr>
          <p:cNvPr id="25" name="Slide Number Placeholder 0"/>
          <p:cNvSpPr>
            <a:spLocks noGrp="1"/>
          </p:cNvSpPr>
          <p:nvPr>
            <p:ph type="sldNum" sz="quarter" idx="4294967295"/>
          </p:nvPr>
        </p:nvSpPr>
        <p:spPr>
          <a:xfrm>
            <a:off x="1143000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72800" cy="822960"/>
          </a:xfrm>
          <a:prstGeom prst="rect">
            <a:avLst/>
          </a:prstGeom>
          <a:noFill/>
          <a:ln/>
        </p:spPr>
        <p:txBody>
          <a:bodyPr wrap="square" lIns="0" tIns="0" rIns="0" bIns="0" rtlCol="0"/>
          <a:lstStyle/>
          <a:p>
            <a:pPr algn="l" indent="0" marL="0">
              <a:buNone/>
            </a:pPr>
            <a:r>
              <a:rPr lang="en-US" sz="3600" b="1" dirty="0">
                <a:solidFill>
                  <a:schemeClr val="tx2"/>
                </a:solidFill>
              </a:rPr>
              <a:t>The same change, handled two ways</a:t>
            </a:r>
            <a:endParaRPr lang="en-US" sz="3600" dirty="0"/>
          </a:p>
        </p:txBody>
      </p:sp>
      <p:sp>
        <p:nvSpPr>
          <p:cNvPr id="3" name="Text 1"/>
          <p:cNvSpPr txBox="1"/>
          <p:nvPr/>
        </p:nvSpPr>
        <p:spPr>
          <a:xfrm>
            <a:off x="640080" y="1188720"/>
            <a:ext cx="10972800" cy="320040"/>
          </a:xfrm>
          <a:prstGeom prst="rect">
            <a:avLst/>
          </a:prstGeom>
          <a:noFill/>
          <a:ln/>
        </p:spPr>
        <p:txBody>
          <a:bodyPr wrap="square" lIns="0" tIns="0" rIns="0" bIns="0" rtlCol="0" anchor="ctr"/>
          <a:lstStyle/>
          <a:p>
            <a:pPr algn="l" indent="0" marL="0">
              <a:buNone/>
            </a:pPr>
            <a:r>
              <a:rPr lang="en-US" sz="1500" dirty="0">
                <a:solidFill>
                  <a:schemeClr val="accent6"/>
                </a:solidFill>
              </a:rPr>
              <a:t>Mid-project, SNHU Travel shifted its focus to wellness and detox travel. Five destinations had to change.</a:t>
            </a:r>
            <a:endParaRPr lang="en-US" sz="1500" dirty="0"/>
          </a:p>
        </p:txBody>
      </p:sp>
      <p:sp>
        <p:nvSpPr>
          <p:cNvPr id="4" name="wf-card"/>
          <p:cNvSpPr/>
          <p:nvPr/>
        </p:nvSpPr>
        <p:spPr>
          <a:xfrm>
            <a:off x="640080" y="1783080"/>
            <a:ext cx="5394960" cy="3108960"/>
          </a:xfrm>
          <a:prstGeom prst="roundRect">
            <a:avLst>
              <a:gd name="adj" fmla="val 2941"/>
            </a:avLst>
          </a:prstGeom>
          <a:solidFill>
            <a:schemeClr val="bg2"/>
          </a:solidFill>
          <a:ln w="12700">
            <a:solidFill>
              <a:schemeClr val="bg2"/>
            </a:solidFill>
            <a:prstDash val="solid"/>
          </a:ln>
        </p:spPr>
      </p:sp>
      <p:sp>
        <p:nvSpPr>
          <p:cNvPr id="5" name="Text 3"/>
          <p:cNvSpPr txBox="1"/>
          <p:nvPr/>
        </p:nvSpPr>
        <p:spPr>
          <a:xfrm>
            <a:off x="914400" y="2011680"/>
            <a:ext cx="4846320" cy="457200"/>
          </a:xfrm>
          <a:prstGeom prst="rect">
            <a:avLst/>
          </a:prstGeom>
          <a:noFill/>
          <a:ln/>
        </p:spPr>
        <p:txBody>
          <a:bodyPr wrap="square" lIns="0" tIns="0" rIns="0" bIns="0" rtlCol="0" anchor="ctr"/>
          <a:lstStyle/>
          <a:p>
            <a:pPr algn="l" indent="0" marL="0">
              <a:buNone/>
            </a:pPr>
            <a:r>
              <a:rPr lang="en-US" sz="2200" b="1" dirty="0">
                <a:solidFill>
                  <a:schemeClr val="accent6"/>
                </a:solidFill>
              </a:rPr>
              <a:t>Under waterfall</a:t>
            </a:r>
            <a:endParaRPr lang="en-US" sz="2200" dirty="0"/>
          </a:p>
        </p:txBody>
      </p:sp>
      <p:sp>
        <p:nvSpPr>
          <p:cNvPr id="6" name="Text 4"/>
          <p:cNvSpPr txBox="1"/>
          <p:nvPr/>
        </p:nvSpPr>
        <p:spPr>
          <a:xfrm>
            <a:off x="914400" y="2560320"/>
            <a:ext cx="4846320" cy="2194560"/>
          </a:xfrm>
          <a:prstGeom prst="rect">
            <a:avLst/>
          </a:prstGeom>
          <a:noFill/>
          <a:ln/>
        </p:spPr>
        <p:txBody>
          <a:bodyPr wrap="square" lIns="0" tIns="0" rIns="0" bIns="0" rtlCol="0" anchor="t"/>
          <a:lstStyle/>
          <a:p>
            <a:pPr algn="l" marL="342900" indent="-342900">
              <a:spcAft>
                <a:spcPts val="1000"/>
              </a:spcAft>
              <a:buSzPct val="100000"/>
              <a:buChar char="•"/>
            </a:pPr>
            <a:r>
              <a:rPr lang="en-US" sz="1500" dirty="0">
                <a:solidFill>
                  <a:schemeClr val="tx1"/>
                </a:solidFill>
              </a:rPr>
              <a:t>Requirements were signed off months earlier</a:t>
            </a:r>
            <a:endParaRPr lang="en-US" sz="1500" dirty="0"/>
          </a:p>
          <a:p>
            <a:pPr algn="l" marL="342900" indent="-342900">
              <a:spcAft>
                <a:spcPts val="1000"/>
              </a:spcAft>
              <a:buSzPct val="100000"/>
              <a:buChar char="•"/>
            </a:pPr>
            <a:r>
              <a:rPr lang="en-US" sz="1500" dirty="0">
                <a:solidFill>
                  <a:schemeClr val="tx1"/>
                </a:solidFill>
              </a:rPr>
              <a:t>The change becomes a formal change request</a:t>
            </a:r>
            <a:endParaRPr lang="en-US" sz="1500" dirty="0"/>
          </a:p>
          <a:p>
            <a:pPr algn="l" marL="342900" indent="-342900">
              <a:spcAft>
                <a:spcPts val="1000"/>
              </a:spcAft>
              <a:buSzPct val="100000"/>
              <a:buChar char="•"/>
            </a:pPr>
            <a:r>
              <a:rPr lang="en-US" sz="1500" dirty="0">
                <a:solidFill>
                  <a:schemeClr val="tx1"/>
                </a:solidFill>
              </a:rPr>
              <a:t>Cost estimate, schedule impact, approval cycle</a:t>
            </a:r>
            <a:endParaRPr lang="en-US" sz="1500" dirty="0"/>
          </a:p>
          <a:p>
            <a:pPr algn="l" marL="342900" indent="-342900">
              <a:spcAft>
                <a:spcPts val="1000"/>
              </a:spcAft>
              <a:buSzPct val="100000"/>
              <a:buChar char="•"/>
            </a:pPr>
            <a:r>
              <a:rPr lang="en-US" sz="1500" dirty="0">
                <a:solidFill>
                  <a:schemeClr val="tx1"/>
                </a:solidFill>
              </a:rPr>
              <a:t>Most likely deferred to a later release</a:t>
            </a:r>
            <a:endParaRPr lang="en-US" sz="1500" dirty="0"/>
          </a:p>
          <a:p>
            <a:pPr algn="l" marL="342900" indent="-342900">
              <a:spcAft>
                <a:spcPts val="1000"/>
              </a:spcAft>
              <a:buSzPct val="100000"/>
              <a:buChar char="•"/>
            </a:pPr>
            <a:r>
              <a:rPr lang="en-US" sz="1500" dirty="0">
                <a:solidFill>
                  <a:schemeClr val="tx1"/>
                </a:solidFill>
              </a:rPr>
              <a:t>The client gets a product built to a plan that stopped being true</a:t>
            </a:r>
            <a:endParaRPr lang="en-US" sz="1500" dirty="0"/>
          </a:p>
        </p:txBody>
      </p:sp>
      <p:sp>
        <p:nvSpPr>
          <p:cNvPr id="7" name="ag-card"/>
          <p:cNvSpPr/>
          <p:nvPr/>
        </p:nvSpPr>
        <p:spPr>
          <a:xfrm>
            <a:off x="6309360" y="1783080"/>
            <a:ext cx="5212080" cy="3108960"/>
          </a:xfrm>
          <a:prstGeom prst="roundRect">
            <a:avLst>
              <a:gd name="adj" fmla="val 2941"/>
            </a:avLst>
          </a:prstGeom>
          <a:solidFill>
            <a:schemeClr val="accent5"/>
          </a:solidFill>
          <a:ln w="12700">
            <a:solidFill>
              <a:schemeClr val="accent5"/>
            </a:solidFill>
            <a:prstDash val="solid"/>
          </a:ln>
        </p:spPr>
      </p:sp>
      <p:sp>
        <p:nvSpPr>
          <p:cNvPr id="8" name="Text 6"/>
          <p:cNvSpPr txBox="1"/>
          <p:nvPr/>
        </p:nvSpPr>
        <p:spPr>
          <a:xfrm>
            <a:off x="6583680" y="2011680"/>
            <a:ext cx="4663440" cy="457200"/>
          </a:xfrm>
          <a:prstGeom prst="rect">
            <a:avLst/>
          </a:prstGeom>
          <a:noFill/>
          <a:ln/>
        </p:spPr>
        <p:txBody>
          <a:bodyPr wrap="square" lIns="0" tIns="0" rIns="0" bIns="0" rtlCol="0" anchor="ctr"/>
          <a:lstStyle/>
          <a:p>
            <a:pPr algn="l" indent="0" marL="0">
              <a:buNone/>
            </a:pPr>
            <a:r>
              <a:rPr lang="en-US" sz="2200" b="1" dirty="0">
                <a:solidFill>
                  <a:schemeClr val="accent1"/>
                </a:solidFill>
              </a:rPr>
              <a:t>Under Scrum-Agile</a:t>
            </a:r>
            <a:endParaRPr lang="en-US" sz="2200" dirty="0"/>
          </a:p>
        </p:txBody>
      </p:sp>
      <p:sp>
        <p:nvSpPr>
          <p:cNvPr id="9" name="Text 7"/>
          <p:cNvSpPr txBox="1"/>
          <p:nvPr/>
        </p:nvSpPr>
        <p:spPr>
          <a:xfrm>
            <a:off x="6583680" y="2560320"/>
            <a:ext cx="4663440" cy="2194560"/>
          </a:xfrm>
          <a:prstGeom prst="rect">
            <a:avLst/>
          </a:prstGeom>
          <a:noFill/>
          <a:ln/>
        </p:spPr>
        <p:txBody>
          <a:bodyPr wrap="square" lIns="0" tIns="0" rIns="0" bIns="0" rtlCol="0" anchor="t"/>
          <a:lstStyle/>
          <a:p>
            <a:pPr algn="l" marL="342900" indent="-342900">
              <a:spcAft>
                <a:spcPts val="1000"/>
              </a:spcAft>
              <a:buSzPct val="100000"/>
              <a:buChar char="•"/>
            </a:pPr>
            <a:r>
              <a:rPr lang="en-US" sz="1500" dirty="0">
                <a:solidFill>
                  <a:schemeClr val="tx1"/>
                </a:solidFill>
              </a:rPr>
              <a:t>Announced at a sprint boundary, so nothing was half-built</a:t>
            </a:r>
            <a:endParaRPr lang="en-US" sz="1500" dirty="0"/>
          </a:p>
          <a:p>
            <a:pPr algn="l" marL="342900" indent="-342900">
              <a:spcAft>
                <a:spcPts val="1000"/>
              </a:spcAft>
              <a:buSzPct val="100000"/>
              <a:buChar char="•"/>
            </a:pPr>
            <a:r>
              <a:rPr lang="en-US" sz="1500" dirty="0">
                <a:solidFill>
                  <a:schemeClr val="tx1"/>
                </a:solidFill>
              </a:rPr>
              <a:t>The Product Owner reorders the backlog</a:t>
            </a:r>
            <a:endParaRPr lang="en-US" sz="1500" dirty="0"/>
          </a:p>
          <a:p>
            <a:pPr algn="l" marL="342900" indent="-342900">
              <a:spcAft>
                <a:spcPts val="1000"/>
              </a:spcAft>
              <a:buSzPct val="100000"/>
              <a:buChar char="•"/>
            </a:pPr>
            <a:r>
              <a:rPr lang="en-US" sz="1500" dirty="0">
                <a:solidFill>
                  <a:schemeClr val="tx1"/>
                </a:solidFill>
              </a:rPr>
              <a:t>Two methods changed in the existing code</a:t>
            </a:r>
            <a:endParaRPr lang="en-US" sz="1500" dirty="0"/>
          </a:p>
          <a:p>
            <a:pPr algn="l" marL="342900" indent="-342900">
              <a:spcAft>
                <a:spcPts val="1000"/>
              </a:spcAft>
              <a:buSzPct val="100000"/>
              <a:buChar char="•"/>
            </a:pPr>
            <a:r>
              <a:rPr lang="en-US" sz="1500" dirty="0">
                <a:solidFill>
                  <a:schemeClr val="tx1"/>
                </a:solidFill>
              </a:rPr>
              <a:t>Cost was one sprint of rework, not a renegotiation</a:t>
            </a:r>
            <a:endParaRPr lang="en-US" sz="1500" dirty="0"/>
          </a:p>
          <a:p>
            <a:pPr algn="l" marL="342900" indent="-342900">
              <a:spcAft>
                <a:spcPts val="1000"/>
              </a:spcAft>
              <a:buSzPct val="100000"/>
              <a:buChar char="•"/>
            </a:pPr>
            <a:r>
              <a:rPr lang="en-US" sz="1500" dirty="0">
                <a:solidFill>
                  <a:schemeClr val="tx1"/>
                </a:solidFill>
              </a:rPr>
              <a:t>The client gets what they actually want now</a:t>
            </a:r>
            <a:endParaRPr lang="en-US" sz="1500" dirty="0"/>
          </a:p>
        </p:txBody>
      </p:sp>
      <p:sp>
        <p:nvSpPr>
          <p:cNvPr id="10" name="Text 8"/>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1000" i="1" dirty="0">
                <a:solidFill>
                  <a:schemeClr val="accent6"/>
                </a:solidFill>
              </a:rPr>
              <a:t>Cobb (2015)</a:t>
            </a:r>
            <a:endParaRPr lang="en-US" sz="1000" dirty="0"/>
          </a:p>
        </p:txBody>
      </p:sp>
      <p:sp>
        <p:nvSpPr>
          <p:cNvPr id="25" name="Slide Number Placeholder 0"/>
          <p:cNvSpPr>
            <a:spLocks noGrp="1"/>
          </p:cNvSpPr>
          <p:nvPr>
            <p:ph type="sldNum" sz="quarter" idx="4294967295"/>
          </p:nvPr>
        </p:nvSpPr>
        <p:spPr>
          <a:xfrm>
            <a:off x="1143000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72800" cy="822960"/>
          </a:xfrm>
          <a:prstGeom prst="rect">
            <a:avLst/>
          </a:prstGeom>
          <a:noFill/>
          <a:ln/>
        </p:spPr>
        <p:txBody>
          <a:bodyPr wrap="square" lIns="0" tIns="0" rIns="0" bIns="0" rtlCol="0"/>
          <a:lstStyle/>
          <a:p>
            <a:pPr algn="l" indent="0" marL="0">
              <a:buNone/>
            </a:pPr>
            <a:r>
              <a:rPr lang="en-US" sz="3600" b="1" dirty="0">
                <a:solidFill>
                  <a:schemeClr val="tx2"/>
                </a:solidFill>
              </a:rPr>
              <a:t>How to choose between them</a:t>
            </a:r>
            <a:endParaRPr lang="en-US" sz="3600" dirty="0"/>
          </a:p>
        </p:txBody>
      </p:sp>
      <p:sp>
        <p:nvSpPr>
          <p:cNvPr id="3" name="Text 1"/>
          <p:cNvSpPr txBox="1"/>
          <p:nvPr/>
        </p:nvSpPr>
        <p:spPr>
          <a:xfrm>
            <a:off x="640080" y="1188720"/>
            <a:ext cx="10972800" cy="320040"/>
          </a:xfrm>
          <a:prstGeom prst="rect">
            <a:avLst/>
          </a:prstGeom>
          <a:noFill/>
          <a:ln/>
        </p:spPr>
        <p:txBody>
          <a:bodyPr wrap="square" lIns="0" tIns="0" rIns="0" bIns="0" rtlCol="0" anchor="ctr"/>
          <a:lstStyle/>
          <a:p>
            <a:pPr algn="l" indent="0" marL="0">
              <a:buNone/>
            </a:pPr>
            <a:r>
              <a:rPr lang="en-US" sz="1500" dirty="0">
                <a:solidFill>
                  <a:schemeClr val="accent6"/>
                </a:solidFill>
              </a:rPr>
              <a:t>The question is not which is better. It is how stable the requirements are.</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914400"/>
        </p:xfrm>
        <a:graphic>
          <a:graphicData uri="http://schemas.openxmlformats.org/drawingml/2006/table">
            <a:tbl>
              <a:tblPr/>
              <a:tblGrid>
                <a:gridCol w="2377440"/>
                <a:gridCol w="4251960"/>
                <a:gridCol w="425196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Factor</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A332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Points to waterfall</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A332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Points to Agile</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A3328"/>
                    </a:solidFill>
                  </a:tcPr>
                </a:tc>
              </a:tr>
              <a:tr h="566928">
                <a:tc>
                  <a:txBody>
                    <a:bodyPr/>
                    <a:lstStyle/>
                    <a:p>
                      <a:pPr indent="0" marL="0">
                        <a:buNone/>
                      </a:pPr>
                      <a:r>
                        <a:rPr lang="en-US" sz="1400" b="1" dirty="0">
                          <a:solidFill>
                            <a:srgbClr val="2E2522"/>
                          </a:solidFill>
                          <a:latin typeface="Calibri" pitchFamily="34" charset="0"/>
                          <a:ea typeface="Calibri" pitchFamily="34" charset="-122"/>
                          <a:cs typeface="Calibri" pitchFamily="34" charset="-120"/>
                        </a:rPr>
                        <a:t>Requirements</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FE4"/>
                    </a:solidFill>
                  </a:tcPr>
                </a:tc>
                <a:tc>
                  <a:txBody>
                    <a:bodyPr/>
                    <a:lstStyle/>
                    <a:p>
                      <a:pPr indent="0" marL="0">
                        <a:buNone/>
                      </a:pPr>
                      <a:r>
                        <a:rPr lang="en-US" sz="1400" dirty="0">
                          <a:solidFill>
                            <a:srgbClr val="2E2522"/>
                          </a:solidFill>
                          <a:latin typeface="Calibri" pitchFamily="34" charset="0"/>
                          <a:ea typeface="Calibri" pitchFamily="34" charset="-122"/>
                          <a:cs typeface="Calibri" pitchFamily="34" charset="-120"/>
                        </a:rPr>
                        <a:t>Stable and well understood</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FE4"/>
                    </a:solidFill>
                  </a:tcPr>
                </a:tc>
                <a:tc>
                  <a:txBody>
                    <a:bodyPr/>
                    <a:lstStyle/>
                    <a:p>
                      <a:pPr indent="0" marL="0">
                        <a:buNone/>
                      </a:pPr>
                      <a:r>
                        <a:rPr lang="en-US" sz="1400" dirty="0">
                          <a:solidFill>
                            <a:srgbClr val="2E2522"/>
                          </a:solidFill>
                          <a:latin typeface="Calibri" pitchFamily="34" charset="0"/>
                          <a:ea typeface="Calibri" pitchFamily="34" charset="-122"/>
                          <a:cs typeface="Calibri" pitchFamily="34" charset="-120"/>
                        </a:rPr>
                        <a:t>Expected to change as you learn</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FE4"/>
                    </a:solidFill>
                  </a:tcPr>
                </a:tc>
              </a:tr>
              <a:tr h="566928">
                <a:tc>
                  <a:txBody>
                    <a:bodyPr/>
                    <a:lstStyle/>
                    <a:p>
                      <a:pPr indent="0" marL="0">
                        <a:buNone/>
                      </a:pPr>
                      <a:r>
                        <a:rPr lang="en-US" sz="1400" b="1" dirty="0">
                          <a:solidFill>
                            <a:srgbClr val="2E2522"/>
                          </a:solidFill>
                          <a:latin typeface="Calibri" pitchFamily="34" charset="0"/>
                          <a:ea typeface="Calibri" pitchFamily="34" charset="-122"/>
                          <a:cs typeface="Calibri" pitchFamily="34" charset="-120"/>
                        </a:rPr>
                        <a:t>Client access</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8F2"/>
                    </a:solidFill>
                  </a:tcPr>
                </a:tc>
                <a:tc>
                  <a:txBody>
                    <a:bodyPr/>
                    <a:lstStyle/>
                    <a:p>
                      <a:pPr indent="0" marL="0">
                        <a:buNone/>
                      </a:pPr>
                      <a:r>
                        <a:rPr lang="en-US" sz="1400" dirty="0">
                          <a:solidFill>
                            <a:srgbClr val="2E2522"/>
                          </a:solidFill>
                          <a:latin typeface="Calibri" pitchFamily="34" charset="0"/>
                          <a:ea typeface="Calibri" pitchFamily="34" charset="-122"/>
                          <a:cs typeface="Calibri" pitchFamily="34" charset="-120"/>
                        </a:rPr>
                        <a:t>Available at the start and the end</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8F2"/>
                    </a:solidFill>
                  </a:tcPr>
                </a:tc>
                <a:tc>
                  <a:txBody>
                    <a:bodyPr/>
                    <a:lstStyle/>
                    <a:p>
                      <a:pPr indent="0" marL="0">
                        <a:buNone/>
                      </a:pPr>
                      <a:r>
                        <a:rPr lang="en-US" sz="1400" dirty="0">
                          <a:solidFill>
                            <a:srgbClr val="2E2522"/>
                          </a:solidFill>
                          <a:latin typeface="Calibri" pitchFamily="34" charset="0"/>
                          <a:ea typeface="Calibri" pitchFamily="34" charset="-122"/>
                          <a:cs typeface="Calibri" pitchFamily="34" charset="-120"/>
                        </a:rPr>
                        <a:t>Available throughout</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8F2"/>
                    </a:solidFill>
                  </a:tcPr>
                </a:tc>
              </a:tr>
              <a:tr h="566928">
                <a:tc>
                  <a:txBody>
                    <a:bodyPr/>
                    <a:lstStyle/>
                    <a:p>
                      <a:pPr indent="0" marL="0">
                        <a:buNone/>
                      </a:pPr>
                      <a:r>
                        <a:rPr lang="en-US" sz="1400" b="1" dirty="0">
                          <a:solidFill>
                            <a:srgbClr val="2E2522"/>
                          </a:solidFill>
                          <a:latin typeface="Calibri" pitchFamily="34" charset="0"/>
                          <a:ea typeface="Calibri" pitchFamily="34" charset="-122"/>
                          <a:cs typeface="Calibri" pitchFamily="34" charset="-120"/>
                        </a:rPr>
                        <a:t>Risk</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FE4"/>
                    </a:solidFill>
                  </a:tcPr>
                </a:tc>
                <a:tc>
                  <a:txBody>
                    <a:bodyPr/>
                    <a:lstStyle/>
                    <a:p>
                      <a:pPr indent="0" marL="0">
                        <a:buNone/>
                      </a:pPr>
                      <a:r>
                        <a:rPr lang="en-US" sz="1400" dirty="0">
                          <a:solidFill>
                            <a:srgbClr val="2E2522"/>
                          </a:solidFill>
                          <a:latin typeface="Calibri" pitchFamily="34" charset="0"/>
                          <a:ea typeface="Calibri" pitchFamily="34" charset="-122"/>
                          <a:cs typeface="Calibri" pitchFamily="34" charset="-120"/>
                        </a:rPr>
                        <a:t>Known, with few unknowns</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FE4"/>
                    </a:solidFill>
                  </a:tcPr>
                </a:tc>
                <a:tc>
                  <a:txBody>
                    <a:bodyPr/>
                    <a:lstStyle/>
                    <a:p>
                      <a:pPr indent="0" marL="0">
                        <a:buNone/>
                      </a:pPr>
                      <a:r>
                        <a:rPr lang="en-US" sz="1400" dirty="0">
                          <a:solidFill>
                            <a:srgbClr val="2E2522"/>
                          </a:solidFill>
                          <a:latin typeface="Calibri" pitchFamily="34" charset="0"/>
                          <a:ea typeface="Calibri" pitchFamily="34" charset="-122"/>
                          <a:cs typeface="Calibri" pitchFamily="34" charset="-120"/>
                        </a:rPr>
                        <a:t>Unknowns you can only find by building</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FE4"/>
                    </a:solidFill>
                  </a:tcPr>
                </a:tc>
              </a:tr>
              <a:tr h="566928">
                <a:tc>
                  <a:txBody>
                    <a:bodyPr/>
                    <a:lstStyle/>
                    <a:p>
                      <a:pPr indent="0" marL="0">
                        <a:buNone/>
                      </a:pPr>
                      <a:r>
                        <a:rPr lang="en-US" sz="1400" b="1" dirty="0">
                          <a:solidFill>
                            <a:srgbClr val="2E2522"/>
                          </a:solidFill>
                          <a:latin typeface="Calibri" pitchFamily="34" charset="0"/>
                          <a:ea typeface="Calibri" pitchFamily="34" charset="-122"/>
                          <a:cs typeface="Calibri" pitchFamily="34" charset="-120"/>
                        </a:rPr>
                        <a:t>Regulation</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8F2"/>
                    </a:solidFill>
                  </a:tcPr>
                </a:tc>
                <a:tc>
                  <a:txBody>
                    <a:bodyPr/>
                    <a:lstStyle/>
                    <a:p>
                      <a:pPr indent="0" marL="0">
                        <a:buNone/>
                      </a:pPr>
                      <a:r>
                        <a:rPr lang="en-US" sz="1400" dirty="0">
                          <a:solidFill>
                            <a:srgbClr val="2E2522"/>
                          </a:solidFill>
                          <a:latin typeface="Calibri" pitchFamily="34" charset="0"/>
                          <a:ea typeface="Calibri" pitchFamily="34" charset="-122"/>
                          <a:cs typeface="Calibri" pitchFamily="34" charset="-120"/>
                        </a:rPr>
                        <a:t>Fixed scope must be documented up front</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8F2"/>
                    </a:solidFill>
                  </a:tcPr>
                </a:tc>
                <a:tc>
                  <a:txBody>
                    <a:bodyPr/>
                    <a:lstStyle/>
                    <a:p>
                      <a:pPr indent="0" marL="0">
                        <a:buNone/>
                      </a:pPr>
                      <a:r>
                        <a:rPr lang="en-US" sz="1400" dirty="0">
                          <a:solidFill>
                            <a:srgbClr val="2E2522"/>
                          </a:solidFill>
                          <a:latin typeface="Calibri" pitchFamily="34" charset="0"/>
                          <a:ea typeface="Calibri" pitchFamily="34" charset="-122"/>
                          <a:cs typeface="Calibri" pitchFamily="34" charset="-120"/>
                        </a:rPr>
                        <a:t>Scope can be negotiated</a:t>
                      </a:r>
                      <a:endParaRPr lang="en-US" sz="1400" dirty="0">
                        <a:latin typeface="Calibri" charset="0"/>
                        <a:ea typeface="Calibri" charset="0"/>
                        <a:cs typeface="Calibri" charset="0"/>
                      </a:endParaRPr>
                    </a:p>
                  </a:txBody>
                  <a:tcPr marL="109728" marR="109728" marT="109728" marB="109728"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AF8F2"/>
                    </a:solidFill>
                  </a:tcPr>
                </a:tc>
              </a:tr>
            </a:tbl>
          </a:graphicData>
        </a:graphic>
      </p:graphicFrame>
      <p:sp>
        <p:nvSpPr>
          <p:cNvPr id="5" name="verdict"/>
          <p:cNvSpPr/>
          <p:nvPr/>
        </p:nvSpPr>
        <p:spPr>
          <a:xfrm>
            <a:off x="640080" y="4846320"/>
            <a:ext cx="10881360" cy="1234440"/>
          </a:xfrm>
          <a:prstGeom prst="roundRect">
            <a:avLst>
              <a:gd name="adj" fmla="val 7407"/>
            </a:avLst>
          </a:prstGeom>
          <a:solidFill>
            <a:schemeClr val="accent5"/>
          </a:solidFill>
          <a:ln w="12700">
            <a:solidFill>
              <a:schemeClr val="accent5"/>
            </a:solidFill>
            <a:prstDash val="solid"/>
          </a:ln>
        </p:spPr>
      </p:sp>
      <p:sp>
        <p:nvSpPr>
          <p:cNvPr id="6" name="Text 3"/>
          <p:cNvSpPr txBox="1"/>
          <p:nvPr/>
        </p:nvSpPr>
        <p:spPr>
          <a:xfrm>
            <a:off x="914400" y="5029200"/>
            <a:ext cx="10332720" cy="868680"/>
          </a:xfrm>
          <a:prstGeom prst="rect">
            <a:avLst/>
          </a:prstGeom>
          <a:noFill/>
          <a:ln/>
        </p:spPr>
        <p:txBody>
          <a:bodyPr wrap="square" lIns="0" tIns="0" rIns="0" bIns="0" rtlCol="0" anchor="ctr"/>
          <a:lstStyle/>
          <a:p>
            <a:pPr algn="l" indent="0" marL="0">
              <a:lnSpc>
                <a:spcPct val="115000"/>
              </a:lnSpc>
              <a:buNone/>
            </a:pPr>
            <a:r>
              <a:rPr lang="en-US" sz="1400" b="1" dirty="0">
                <a:solidFill>
                  <a:schemeClr val="accent1"/>
                </a:solidFill>
              </a:rPr>
              <a:t>Our recommendation.  </a:t>
            </a:r>
            <a:pPr algn="l" indent="0" marL="0">
              <a:lnSpc>
                <a:spcPct val="115000"/>
              </a:lnSpc>
              <a:buNone/>
            </a:pPr>
            <a:r>
              <a:rPr lang="en-US" sz="1400" dirty="0">
                <a:solidFill>
                  <a:schemeClr val="tx1"/>
                </a:solidFill>
              </a:rPr>
              <a:t>SNHU Travel sat on the Agile side of every row, and the pilot bore that out. Teams whose requirements are genuinely fixed should not be forced to switch. Pilot Scrum where the work is uncertain, and let the results decide the rest.</a:t>
            </a:r>
            <a:endParaRPr lang="en-US" sz="1400" dirty="0"/>
          </a:p>
        </p:txBody>
      </p:sp>
      <p:sp>
        <p:nvSpPr>
          <p:cNvPr id="25" name="Slide Number Placeholder 0"/>
          <p:cNvSpPr>
            <a:spLocks noGrp="1"/>
          </p:cNvSpPr>
          <p:nvPr>
            <p:ph type="sldNum" sz="quarter" idx="4294967295"/>
          </p:nvPr>
        </p:nvSpPr>
        <p:spPr>
          <a:xfrm>
            <a:off x="1143000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72800" cy="822960"/>
          </a:xfrm>
          <a:prstGeom prst="rect">
            <a:avLst/>
          </a:prstGeom>
          <a:noFill/>
          <a:ln/>
        </p:spPr>
        <p:txBody>
          <a:bodyPr wrap="square" lIns="0" tIns="0" rIns="0" bIns="0" rtlCol="0"/>
          <a:lstStyle/>
          <a:p>
            <a:pPr algn="l" indent="0" marL="0">
              <a:buNone/>
            </a:pPr>
            <a:r>
              <a:rPr lang="en-US" sz="3600" b="1" dirty="0">
                <a:solidFill>
                  <a:schemeClr val="tx2"/>
                </a:solidFill>
              </a:rPr>
              <a:t>What made the pilot work</a:t>
            </a:r>
            <a:endParaRPr lang="en-US" sz="3600" dirty="0"/>
          </a:p>
        </p:txBody>
      </p:sp>
      <p:sp>
        <p:nvSpPr>
          <p:cNvPr id="3" name="Text 1"/>
          <p:cNvSpPr txBox="1"/>
          <p:nvPr/>
        </p:nvSpPr>
        <p:spPr>
          <a:xfrm>
            <a:off x="640080" y="1188720"/>
            <a:ext cx="10972800" cy="320040"/>
          </a:xfrm>
          <a:prstGeom prst="rect">
            <a:avLst/>
          </a:prstGeom>
          <a:noFill/>
          <a:ln/>
        </p:spPr>
        <p:txBody>
          <a:bodyPr wrap="square" lIns="0" tIns="0" rIns="0" bIns="0" rtlCol="0" anchor="ctr"/>
          <a:lstStyle/>
          <a:p>
            <a:pPr algn="l" indent="0" marL="0">
              <a:buNone/>
            </a:pPr>
            <a:r>
              <a:rPr lang="en-US" sz="1500" dirty="0">
                <a:solidFill>
                  <a:schemeClr val="accent6"/>
                </a:solidFill>
              </a:rPr>
              <a:t>Three practices did most of the heavy lifting, and one gap is worth avoiding next time</a:t>
            </a:r>
            <a:endParaRPr lang="en-US" sz="1500" dirty="0"/>
          </a:p>
        </p:txBody>
      </p:sp>
      <p:sp>
        <p:nvSpPr>
          <p:cNvPr id="4" name="win-0"/>
          <p:cNvSpPr/>
          <p:nvPr/>
        </p:nvSpPr>
        <p:spPr>
          <a:xfrm>
            <a:off x="640080" y="1783080"/>
            <a:ext cx="3493008" cy="2514600"/>
          </a:xfrm>
          <a:prstGeom prst="roundRect">
            <a:avLst>
              <a:gd name="adj" fmla="val 3636"/>
            </a:avLst>
          </a:prstGeom>
          <a:solidFill>
            <a:schemeClr val="bg2"/>
          </a:solidFill>
          <a:ln w="12700">
            <a:solidFill>
              <a:schemeClr val="bg2"/>
            </a:solidFill>
            <a:prstDash val="solid"/>
          </a:ln>
        </p:spPr>
      </p:sp>
      <p:sp>
        <p:nvSpPr>
          <p:cNvPr id="5" name="wincirc-0"/>
          <p:cNvSpPr/>
          <p:nvPr/>
        </p:nvSpPr>
        <p:spPr>
          <a:xfrm>
            <a:off x="914400" y="2057400"/>
            <a:ext cx="548640" cy="548640"/>
          </a:xfrm>
          <a:prstGeom prst="ellipse">
            <a:avLst/>
          </a:prstGeom>
          <a:solidFill>
            <a:schemeClr val="accent1"/>
          </a:solidFill>
          <a:ln w="12700">
            <a:solidFill>
              <a:schemeClr val="accent1"/>
            </a:solidFill>
            <a:prstDash val="solid"/>
          </a:ln>
        </p:spPr>
      </p:sp>
      <p:sp>
        <p:nvSpPr>
          <p:cNvPr id="6" name="Text 4"/>
          <p:cNvSpPr txBox="1"/>
          <p:nvPr/>
        </p:nvSpPr>
        <p:spPr>
          <a:xfrm>
            <a:off x="914400" y="2057400"/>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rPr>
              <a:t>1</a:t>
            </a:r>
            <a:endParaRPr lang="en-US" sz="1900" dirty="0"/>
          </a:p>
        </p:txBody>
      </p:sp>
      <p:sp>
        <p:nvSpPr>
          <p:cNvPr id="7" name="Text 5"/>
          <p:cNvSpPr txBox="1"/>
          <p:nvPr/>
        </p:nvSpPr>
        <p:spPr>
          <a:xfrm>
            <a:off x="914400" y="2743200"/>
            <a:ext cx="2944368" cy="502920"/>
          </a:xfrm>
          <a:prstGeom prst="rect">
            <a:avLst/>
          </a:prstGeom>
          <a:noFill/>
          <a:ln/>
        </p:spPr>
        <p:txBody>
          <a:bodyPr wrap="square" lIns="0" tIns="0" rIns="0" bIns="0" rtlCol="0" anchor="t"/>
          <a:lstStyle/>
          <a:p>
            <a:pPr algn="l" indent="0" marL="0">
              <a:lnSpc>
                <a:spcPct val="105000"/>
              </a:lnSpc>
              <a:buNone/>
            </a:pPr>
            <a:r>
              <a:rPr lang="en-US" sz="1700" b="1" dirty="0">
                <a:solidFill>
                  <a:schemeClr val="tx2"/>
                </a:solidFill>
              </a:rPr>
              <a:t>Acceptance criteria as numbers</a:t>
            </a:r>
            <a:endParaRPr lang="en-US" sz="1700" dirty="0"/>
          </a:p>
        </p:txBody>
      </p:sp>
      <p:sp>
        <p:nvSpPr>
          <p:cNvPr id="8" name="Text 6"/>
          <p:cNvSpPr txBox="1"/>
          <p:nvPr/>
        </p:nvSpPr>
        <p:spPr>
          <a:xfrm>
            <a:off x="914400" y="3291840"/>
            <a:ext cx="2944368" cy="86868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Ten destinations. Updates in two seconds. Pages load in three. "Done" stopped being an opinion.</a:t>
            </a:r>
            <a:endParaRPr lang="en-US" sz="1300" dirty="0"/>
          </a:p>
        </p:txBody>
      </p:sp>
      <p:sp>
        <p:nvSpPr>
          <p:cNvPr id="9" name="win-1"/>
          <p:cNvSpPr/>
          <p:nvPr/>
        </p:nvSpPr>
        <p:spPr>
          <a:xfrm>
            <a:off x="4361688" y="1783080"/>
            <a:ext cx="3493008" cy="2514600"/>
          </a:xfrm>
          <a:prstGeom prst="roundRect">
            <a:avLst>
              <a:gd name="adj" fmla="val 3636"/>
            </a:avLst>
          </a:prstGeom>
          <a:solidFill>
            <a:schemeClr val="bg2"/>
          </a:solidFill>
          <a:ln w="12700">
            <a:solidFill>
              <a:schemeClr val="bg2"/>
            </a:solidFill>
            <a:prstDash val="solid"/>
          </a:ln>
        </p:spPr>
      </p:sp>
      <p:sp>
        <p:nvSpPr>
          <p:cNvPr id="10" name="wincirc-1"/>
          <p:cNvSpPr/>
          <p:nvPr/>
        </p:nvSpPr>
        <p:spPr>
          <a:xfrm>
            <a:off x="4636008" y="2057400"/>
            <a:ext cx="548640" cy="548640"/>
          </a:xfrm>
          <a:prstGeom prst="ellipse">
            <a:avLst/>
          </a:prstGeom>
          <a:solidFill>
            <a:schemeClr val="accent4"/>
          </a:solidFill>
          <a:ln w="12700">
            <a:solidFill>
              <a:schemeClr val="accent4"/>
            </a:solidFill>
            <a:prstDash val="solid"/>
          </a:ln>
        </p:spPr>
      </p:sp>
      <p:sp>
        <p:nvSpPr>
          <p:cNvPr id="11" name="Text 9"/>
          <p:cNvSpPr txBox="1"/>
          <p:nvPr/>
        </p:nvSpPr>
        <p:spPr>
          <a:xfrm>
            <a:off x="4636008" y="2057400"/>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rPr>
              <a:t>2</a:t>
            </a:r>
            <a:endParaRPr lang="en-US" sz="1900" dirty="0"/>
          </a:p>
        </p:txBody>
      </p:sp>
      <p:sp>
        <p:nvSpPr>
          <p:cNvPr id="12" name="Text 10"/>
          <p:cNvSpPr txBox="1"/>
          <p:nvPr/>
        </p:nvSpPr>
        <p:spPr>
          <a:xfrm>
            <a:off x="4636008" y="2743200"/>
            <a:ext cx="2944368" cy="502920"/>
          </a:xfrm>
          <a:prstGeom prst="rect">
            <a:avLst/>
          </a:prstGeom>
          <a:noFill/>
          <a:ln/>
        </p:spPr>
        <p:txBody>
          <a:bodyPr wrap="square" lIns="0" tIns="0" rIns="0" bIns="0" rtlCol="0" anchor="t"/>
          <a:lstStyle/>
          <a:p>
            <a:pPr algn="l" indent="0" marL="0">
              <a:lnSpc>
                <a:spcPct val="105000"/>
              </a:lnSpc>
              <a:buNone/>
            </a:pPr>
            <a:r>
              <a:rPr lang="en-US" sz="1700" b="1" dirty="0">
                <a:solidFill>
                  <a:schemeClr val="tx2"/>
                </a:solidFill>
              </a:rPr>
              <a:t>An information radiator</a:t>
            </a:r>
            <a:endParaRPr lang="en-US" sz="1700" dirty="0"/>
          </a:p>
        </p:txBody>
      </p:sp>
      <p:sp>
        <p:nvSpPr>
          <p:cNvPr id="13" name="Text 11"/>
          <p:cNvSpPr txBox="1"/>
          <p:nvPr/>
        </p:nvSpPr>
        <p:spPr>
          <a:xfrm>
            <a:off x="4636008" y="3291840"/>
            <a:ext cx="2944368" cy="86868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A board everyone can see turns status into something you read instead of something you ask for.</a:t>
            </a:r>
            <a:endParaRPr lang="en-US" sz="1300" dirty="0"/>
          </a:p>
        </p:txBody>
      </p:sp>
      <p:sp>
        <p:nvSpPr>
          <p:cNvPr id="14" name="win-2"/>
          <p:cNvSpPr/>
          <p:nvPr/>
        </p:nvSpPr>
        <p:spPr>
          <a:xfrm>
            <a:off x="8083296" y="1783080"/>
            <a:ext cx="3493008" cy="2514600"/>
          </a:xfrm>
          <a:prstGeom prst="roundRect">
            <a:avLst>
              <a:gd name="adj" fmla="val 3636"/>
            </a:avLst>
          </a:prstGeom>
          <a:solidFill>
            <a:schemeClr val="bg2"/>
          </a:solidFill>
          <a:ln w="12700">
            <a:solidFill>
              <a:schemeClr val="bg2"/>
            </a:solidFill>
            <a:prstDash val="solid"/>
          </a:ln>
        </p:spPr>
      </p:sp>
      <p:sp>
        <p:nvSpPr>
          <p:cNvPr id="15" name="wincirc-2"/>
          <p:cNvSpPr/>
          <p:nvPr/>
        </p:nvSpPr>
        <p:spPr>
          <a:xfrm>
            <a:off x="8357616" y="2057400"/>
            <a:ext cx="548640" cy="548640"/>
          </a:xfrm>
          <a:prstGeom prst="ellipse">
            <a:avLst/>
          </a:prstGeom>
          <a:solidFill>
            <a:schemeClr val="accent2"/>
          </a:solidFill>
          <a:ln w="12700">
            <a:solidFill>
              <a:schemeClr val="accent2"/>
            </a:solidFill>
            <a:prstDash val="solid"/>
          </a:ln>
        </p:spPr>
      </p:sp>
      <p:sp>
        <p:nvSpPr>
          <p:cNvPr id="16" name="Text 14"/>
          <p:cNvSpPr txBox="1"/>
          <p:nvPr/>
        </p:nvSpPr>
        <p:spPr>
          <a:xfrm>
            <a:off x="8357616" y="2057400"/>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rPr>
              <a:t>3</a:t>
            </a:r>
            <a:endParaRPr lang="en-US" sz="1900" dirty="0"/>
          </a:p>
        </p:txBody>
      </p:sp>
      <p:sp>
        <p:nvSpPr>
          <p:cNvPr id="17" name="Text 15"/>
          <p:cNvSpPr txBox="1"/>
          <p:nvPr/>
        </p:nvSpPr>
        <p:spPr>
          <a:xfrm>
            <a:off x="8357616" y="2743200"/>
            <a:ext cx="2944368" cy="502920"/>
          </a:xfrm>
          <a:prstGeom prst="rect">
            <a:avLst/>
          </a:prstGeom>
          <a:noFill/>
          <a:ln/>
        </p:spPr>
        <p:txBody>
          <a:bodyPr wrap="square" lIns="0" tIns="0" rIns="0" bIns="0" rtlCol="0" anchor="t"/>
          <a:lstStyle/>
          <a:p>
            <a:pPr algn="l" indent="0" marL="0">
              <a:lnSpc>
                <a:spcPct val="105000"/>
              </a:lnSpc>
              <a:buNone/>
            </a:pPr>
            <a:r>
              <a:rPr lang="en-US" sz="1700" b="1" dirty="0">
                <a:solidFill>
                  <a:schemeClr val="tx2"/>
                </a:solidFill>
              </a:rPr>
              <a:t>Short written questions</a:t>
            </a:r>
            <a:endParaRPr lang="en-US" sz="1700" dirty="0"/>
          </a:p>
        </p:txBody>
      </p:sp>
      <p:sp>
        <p:nvSpPr>
          <p:cNvPr id="18" name="Text 16"/>
          <p:cNvSpPr txBox="1"/>
          <p:nvPr/>
        </p:nvSpPr>
        <p:spPr>
          <a:xfrm>
            <a:off x="8357616" y="3291840"/>
            <a:ext cx="2944368" cy="86868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One closed question to one named person, with a deadline, got answers that unblocked a whole sprint.</a:t>
            </a:r>
            <a:endParaRPr lang="en-US" sz="1300" dirty="0"/>
          </a:p>
        </p:txBody>
      </p:sp>
      <p:sp>
        <p:nvSpPr>
          <p:cNvPr id="19" name="gap"/>
          <p:cNvSpPr/>
          <p:nvPr/>
        </p:nvSpPr>
        <p:spPr>
          <a:xfrm>
            <a:off x="640080" y="4526280"/>
            <a:ext cx="10881360" cy="1554480"/>
          </a:xfrm>
          <a:prstGeom prst="roundRect">
            <a:avLst>
              <a:gd name="adj" fmla="val 5882"/>
            </a:avLst>
          </a:prstGeom>
          <a:solidFill>
            <a:schemeClr val="accent5"/>
          </a:solidFill>
          <a:ln w="12700">
            <a:solidFill>
              <a:schemeClr val="accent5"/>
            </a:solidFill>
            <a:prstDash val="solid"/>
          </a:ln>
        </p:spPr>
      </p:sp>
      <p:sp>
        <p:nvSpPr>
          <p:cNvPr id="20" name="Text 18"/>
          <p:cNvSpPr txBox="1"/>
          <p:nvPr/>
        </p:nvSpPr>
        <p:spPr>
          <a:xfrm>
            <a:off x="914400" y="4709160"/>
            <a:ext cx="10332720" cy="1188720"/>
          </a:xfrm>
          <a:prstGeom prst="rect">
            <a:avLst/>
          </a:prstGeom>
          <a:noFill/>
          <a:ln/>
        </p:spPr>
        <p:txBody>
          <a:bodyPr wrap="square" lIns="0" tIns="0" rIns="0" bIns="0" rtlCol="0" anchor="ctr"/>
          <a:lstStyle/>
          <a:p>
            <a:pPr algn="l" indent="0" marL="0">
              <a:lnSpc>
                <a:spcPct val="115000"/>
              </a:lnSpc>
              <a:buNone/>
            </a:pPr>
            <a:r>
              <a:rPr lang="en-US" sz="1400" b="1" dirty="0">
                <a:solidFill>
                  <a:schemeClr val="accent1"/>
                </a:solidFill>
              </a:rPr>
              <a:t>The gap to avoid.  </a:t>
            </a:r>
            <a:pPr algn="l" indent="0" marL="0">
              <a:lnSpc>
                <a:spcPct val="115000"/>
              </a:lnSpc>
              <a:buNone/>
            </a:pPr>
            <a:r>
              <a:rPr lang="en-US" sz="1400" dirty="0">
                <a:solidFill>
                  <a:schemeClr val="tx1"/>
                </a:solidFill>
              </a:rPr>
              <a:t>One story said ten destinations and the wireframe showed five, and nobody settled it in writing. The developer guessed to keep moving. A one-line comment on the story would have closed it. Decisions that live in one person’s inbox are decisions the next person has to make again.</a:t>
            </a:r>
            <a:endParaRPr lang="en-US" sz="1400" dirty="0"/>
          </a:p>
        </p:txBody>
      </p:sp>
      <p:sp>
        <p:nvSpPr>
          <p:cNvPr id="21" name="Text 19"/>
          <p:cNvSpPr txBox="1"/>
          <p:nvPr/>
        </p:nvSpPr>
        <p:spPr>
          <a:xfrm>
            <a:off x="640080" y="6355080"/>
            <a:ext cx="6400800" cy="274320"/>
          </a:xfrm>
          <a:prstGeom prst="rect">
            <a:avLst/>
          </a:prstGeom>
          <a:noFill/>
          <a:ln/>
        </p:spPr>
        <p:txBody>
          <a:bodyPr wrap="square" lIns="0" tIns="0" rIns="0" bIns="0" rtlCol="0" anchor="ctr"/>
          <a:lstStyle/>
          <a:p>
            <a:pPr algn="l" indent="0" marL="0">
              <a:buNone/>
            </a:pPr>
            <a:r>
              <a:rPr lang="en-US" sz="1000" i="1" dirty="0">
                <a:solidFill>
                  <a:schemeClr val="accent6"/>
                </a:solidFill>
              </a:rPr>
              <a:t>Kostin &amp; Strode (2023); Montgomery et al. (2022)</a:t>
            </a:r>
            <a:endParaRPr lang="en-US" sz="1000" dirty="0"/>
          </a:p>
        </p:txBody>
      </p:sp>
      <p:sp>
        <p:nvSpPr>
          <p:cNvPr id="25" name="Slide Number Placeholder 0"/>
          <p:cNvSpPr>
            <a:spLocks noGrp="1"/>
          </p:cNvSpPr>
          <p:nvPr>
            <p:ph type="sldNum" sz="quarter" idx="4294967295"/>
          </p:nvPr>
        </p:nvSpPr>
        <p:spPr>
          <a:xfrm>
            <a:off x="1143000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72800" cy="822960"/>
          </a:xfrm>
          <a:prstGeom prst="rect">
            <a:avLst/>
          </a:prstGeom>
          <a:noFill/>
          <a:ln/>
        </p:spPr>
        <p:txBody>
          <a:bodyPr wrap="square" lIns="0" tIns="0" rIns="0" bIns="0" rtlCol="0"/>
          <a:lstStyle/>
          <a:p>
            <a:pPr algn="l" indent="0" marL="0">
              <a:buNone/>
            </a:pPr>
            <a:r>
              <a:rPr lang="en-US" sz="3600" b="1" dirty="0">
                <a:solidFill>
                  <a:schemeClr val="tx2"/>
                </a:solidFill>
              </a:rPr>
              <a:t>References</a:t>
            </a:r>
            <a:endParaRPr lang="en-US" sz="3600" dirty="0"/>
          </a:p>
        </p:txBody>
      </p:sp>
      <p:sp>
        <p:nvSpPr>
          <p:cNvPr id="3" name="ref-0"/>
          <p:cNvSpPr txBox="1"/>
          <p:nvPr/>
        </p:nvSpPr>
        <p:spPr>
          <a:xfrm>
            <a:off x="640080" y="1371600"/>
            <a:ext cx="10881360" cy="237744"/>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Cobb, C. G. (2015). </a:t>
            </a:r>
            <a:pPr algn="l" indent="0" marL="0">
              <a:lnSpc>
                <a:spcPct val="110000"/>
              </a:lnSpc>
              <a:buNone/>
            </a:pPr>
            <a:r>
              <a:rPr lang="en-US" sz="1250" i="1" dirty="0">
                <a:solidFill>
                  <a:schemeClr val="tx1"/>
                </a:solidFill>
              </a:rPr>
              <a:t>The project manager’s guide to mastering agile: Principles and practices for an adaptive approach</a:t>
            </a:r>
            <a:pPr algn="l" indent="0" marL="0">
              <a:lnSpc>
                <a:spcPct val="110000"/>
              </a:lnSpc>
              <a:buNone/>
            </a:pPr>
            <a:r>
              <a:rPr lang="en-US" sz="1250" dirty="0">
                <a:solidFill>
                  <a:schemeClr val="tx1"/>
                </a:solidFill>
              </a:rPr>
              <a:t>. Wiley.</a:t>
            </a:r>
            <a:endParaRPr lang="en-US" sz="1250" dirty="0"/>
          </a:p>
        </p:txBody>
      </p:sp>
      <p:sp>
        <p:nvSpPr>
          <p:cNvPr id="4" name="ref-1"/>
          <p:cNvSpPr txBox="1"/>
          <p:nvPr/>
        </p:nvSpPr>
        <p:spPr>
          <a:xfrm>
            <a:off x="640080" y="1883664"/>
            <a:ext cx="10881360" cy="475488"/>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Ferreira, B., Marques, S., Kalinowski, M., Lopes, H., &amp; Barbosa, S. D. J. (2023). Lessons learned to improve the UX practices in agile projects involving data science and process automation. </a:t>
            </a:r>
            <a:pPr algn="l" indent="0" marL="0">
              <a:lnSpc>
                <a:spcPct val="110000"/>
              </a:lnSpc>
              <a:buNone/>
            </a:pPr>
            <a:r>
              <a:rPr lang="en-US" sz="1250" i="1" dirty="0">
                <a:solidFill>
                  <a:schemeClr val="tx1"/>
                </a:solidFill>
              </a:rPr>
              <a:t>Information and Software Technology, 155</a:t>
            </a:r>
            <a:pPr algn="l" indent="0" marL="0">
              <a:lnSpc>
                <a:spcPct val="110000"/>
              </a:lnSpc>
              <a:buNone/>
            </a:pPr>
            <a:r>
              <a:rPr lang="en-US" sz="1250" dirty="0">
                <a:solidFill>
                  <a:schemeClr val="tx1"/>
                </a:solidFill>
              </a:rPr>
              <a:t>, 107106. https://doi.org/10.1016/j.infsof.2022.107106</a:t>
            </a:r>
            <a:endParaRPr lang="en-US" sz="1250" dirty="0"/>
          </a:p>
        </p:txBody>
      </p:sp>
      <p:sp>
        <p:nvSpPr>
          <p:cNvPr id="5" name="ref-2"/>
          <p:cNvSpPr txBox="1"/>
          <p:nvPr/>
        </p:nvSpPr>
        <p:spPr>
          <a:xfrm>
            <a:off x="640080" y="2633472"/>
            <a:ext cx="10881360" cy="475488"/>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Kostin, D., &amp; Strode, D. E. (2023). Effective communication in globally distributed Scrum: A model and practical guidance. </a:t>
            </a:r>
            <a:pPr algn="l" indent="0" marL="0">
              <a:lnSpc>
                <a:spcPct val="110000"/>
              </a:lnSpc>
              <a:buNone/>
            </a:pPr>
            <a:r>
              <a:rPr lang="en-US" sz="1250" i="1" dirty="0">
                <a:solidFill>
                  <a:schemeClr val="tx1"/>
                </a:solidFill>
              </a:rPr>
              <a:t>Australasian Journal of Information Systems, 27</a:t>
            </a:r>
            <a:pPr algn="l" indent="0" marL="0">
              <a:lnSpc>
                <a:spcPct val="110000"/>
              </a:lnSpc>
              <a:buNone/>
            </a:pPr>
            <a:r>
              <a:rPr lang="en-US" sz="1250" dirty="0">
                <a:solidFill>
                  <a:schemeClr val="tx1"/>
                </a:solidFill>
              </a:rPr>
              <a:t>. https://doi.org/10.3127/ajis.v27i0.4501</a:t>
            </a:r>
            <a:endParaRPr lang="en-US" sz="1250" dirty="0"/>
          </a:p>
        </p:txBody>
      </p:sp>
      <p:sp>
        <p:nvSpPr>
          <p:cNvPr id="6" name="ref-3"/>
          <p:cNvSpPr txBox="1"/>
          <p:nvPr/>
        </p:nvSpPr>
        <p:spPr>
          <a:xfrm>
            <a:off x="640080" y="3383280"/>
            <a:ext cx="10881360" cy="475488"/>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Kuhail, M. A., &amp; Lauesen, S. (2022). User story quality in practice: A case study. </a:t>
            </a:r>
            <a:pPr algn="l" indent="0" marL="0">
              <a:lnSpc>
                <a:spcPct val="110000"/>
              </a:lnSpc>
              <a:buNone/>
            </a:pPr>
            <a:r>
              <a:rPr lang="en-US" sz="1250" i="1" dirty="0">
                <a:solidFill>
                  <a:schemeClr val="tx1"/>
                </a:solidFill>
              </a:rPr>
              <a:t>Software, 1</a:t>
            </a:r>
            <a:pPr algn="l" indent="0" marL="0">
              <a:lnSpc>
                <a:spcPct val="110000"/>
              </a:lnSpc>
              <a:buNone/>
            </a:pPr>
            <a:r>
              <a:rPr lang="en-US" sz="1250" dirty="0">
                <a:solidFill>
                  <a:schemeClr val="tx1"/>
                </a:solidFill>
              </a:rPr>
              <a:t>(3), 223–243. https://doi.org/10.3390/software1030010</a:t>
            </a:r>
            <a:endParaRPr lang="en-US" sz="1250" dirty="0"/>
          </a:p>
        </p:txBody>
      </p:sp>
      <p:sp>
        <p:nvSpPr>
          <p:cNvPr id="7" name="ref-4"/>
          <p:cNvSpPr txBox="1"/>
          <p:nvPr/>
        </p:nvSpPr>
        <p:spPr>
          <a:xfrm>
            <a:off x="640080" y="4133088"/>
            <a:ext cx="10881360" cy="475488"/>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Montgomery, L., Lüders, C., &amp; Maalej, W. (2022). An alternative issue tracking dataset of public Jira repositories. In </a:t>
            </a:r>
            <a:pPr algn="l" indent="0" marL="0">
              <a:lnSpc>
                <a:spcPct val="110000"/>
              </a:lnSpc>
              <a:buNone/>
            </a:pPr>
            <a:r>
              <a:rPr lang="en-US" sz="1250" i="1" dirty="0">
                <a:solidFill>
                  <a:schemeClr val="tx1"/>
                </a:solidFill>
              </a:rPr>
              <a:t>Proceedings of the 19th International Conference on Mining Software Repositories</a:t>
            </a:r>
            <a:pPr algn="l" indent="0" marL="0">
              <a:lnSpc>
                <a:spcPct val="110000"/>
              </a:lnSpc>
              <a:buNone/>
            </a:pPr>
            <a:r>
              <a:rPr lang="en-US" sz="1250" dirty="0">
                <a:solidFill>
                  <a:schemeClr val="tx1"/>
                </a:solidFill>
              </a:rPr>
              <a:t> (pp. 73–77). Association for Computing Machinery. https://doi.org/10.1145/3524842.3528486</a:t>
            </a:r>
            <a:endParaRPr lang="en-US" sz="1250" dirty="0"/>
          </a:p>
        </p:txBody>
      </p:sp>
      <p:sp>
        <p:nvSpPr>
          <p:cNvPr id="8" name="ref-5"/>
          <p:cNvSpPr txBox="1"/>
          <p:nvPr/>
        </p:nvSpPr>
        <p:spPr>
          <a:xfrm>
            <a:off x="640080" y="4882896"/>
            <a:ext cx="10881360" cy="475488"/>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Verwijs, C., &amp; Russo, D. (2023). A theory of scrum team effectiveness. </a:t>
            </a:r>
            <a:pPr algn="l" indent="0" marL="0">
              <a:lnSpc>
                <a:spcPct val="110000"/>
              </a:lnSpc>
              <a:buNone/>
            </a:pPr>
            <a:r>
              <a:rPr lang="en-US" sz="1250" i="1" dirty="0">
                <a:solidFill>
                  <a:schemeClr val="tx1"/>
                </a:solidFill>
              </a:rPr>
              <a:t>ACM Transactions on Software Engineering and Methodology, 32</a:t>
            </a:r>
            <a:pPr algn="l" indent="0" marL="0">
              <a:lnSpc>
                <a:spcPct val="110000"/>
              </a:lnSpc>
              <a:buNone/>
            </a:pPr>
            <a:r>
              <a:rPr lang="en-US" sz="1250" dirty="0">
                <a:solidFill>
                  <a:schemeClr val="tx1"/>
                </a:solidFill>
              </a:rPr>
              <a:t>(3), Article 74. https://doi.org/10.1145/3571849</a:t>
            </a:r>
            <a:endParaRPr lang="en-US" sz="1250" dirty="0"/>
          </a:p>
        </p:txBody>
      </p:sp>
      <p:sp>
        <p:nvSpPr>
          <p:cNvPr id="25" name="Slide Number Placeholder 0"/>
          <p:cNvSpPr>
            <a:spLocks noGrp="1"/>
          </p:cNvSpPr>
          <p:nvPr>
            <p:ph type="sldNum" sz="quarter" idx="4294967295"/>
          </p:nvPr>
        </p:nvSpPr>
        <p:spPr>
          <a:xfrm>
            <a:off x="1143000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Terracotta Agile">
  <a:themeElements>
    <a:clrScheme name="Terracotta Agile">
      <a:dk1>
        <a:srgbClr val="2E2522"/>
      </a:dk1>
      <a:lt1>
        <a:srgbClr val="FFFFFF"/>
      </a:lt1>
      <a:dk2>
        <a:srgbClr val="7A3328"/>
      </a:dk2>
      <a:lt2>
        <a:srgbClr val="F3EFE4"/>
      </a:lt2>
      <a:accent1>
        <a:srgbClr val="B85042"/>
      </a:accent1>
      <a:accent2>
        <a:srgbClr val="A7BEAE"/>
      </a:accent2>
      <a:accent3>
        <a:srgbClr val="D8A49B"/>
      </a:accent3>
      <a:accent4>
        <a:srgbClr val="5F7A6B"/>
      </a:accent4>
      <a:accent5>
        <a:srgbClr val="E7E8D1"/>
      </a:accent5>
      <a:accent6>
        <a:srgbClr val="8C6A5D"/>
      </a:accent6>
      <a:hlink>
        <a:srgbClr val="B85042"/>
      </a:hlink>
      <a:folHlink>
        <a:srgbClr val="8C6A5D"/>
      </a:folHlink>
    </a:clrScheme>
    <a:fontScheme name="Terracotta Agi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Moving to Scrum-Agile</dc:title>
  <dc:subject>PptxGenJS Presentation</dc:subject>
  <dc:creator>Bana El Schad Desrosiers</dc:creator>
  <cp:lastModifiedBy>Bana El Schad Desrosiers</cp:lastModifiedBy>
  <cp:revision>1</cp:revision>
  <dcterms:created xsi:type="dcterms:W3CDTF">2026-10-15T00:39:02Z</dcterms:created>
  <dcterms:modified xsi:type="dcterms:W3CDTF">2026-10-15T00:39:02Z</dcterms:modified>
</cp:coreProperties>
</file>